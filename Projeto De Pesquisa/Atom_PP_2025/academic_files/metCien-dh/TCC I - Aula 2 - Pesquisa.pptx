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2"/>
  </p:notesMasterIdLst>
  <p:handoutMasterIdLst>
    <p:handoutMasterId r:id="rId33"/>
  </p:handoutMasterIdLst>
  <p:sldIdLst>
    <p:sldId id="256" r:id="rId2"/>
    <p:sldId id="1152" r:id="rId3"/>
    <p:sldId id="1155" r:id="rId4"/>
    <p:sldId id="1157" r:id="rId5"/>
    <p:sldId id="1156" r:id="rId6"/>
    <p:sldId id="1145" r:id="rId7"/>
    <p:sldId id="1142" r:id="rId8"/>
    <p:sldId id="1158" r:id="rId9"/>
    <p:sldId id="1159" r:id="rId10"/>
    <p:sldId id="1160" r:id="rId11"/>
    <p:sldId id="1147" r:id="rId12"/>
    <p:sldId id="1148" r:id="rId13"/>
    <p:sldId id="1150" r:id="rId14"/>
    <p:sldId id="1167" r:id="rId15"/>
    <p:sldId id="1149" r:id="rId16"/>
    <p:sldId id="1166" r:id="rId17"/>
    <p:sldId id="1151" r:id="rId18"/>
    <p:sldId id="1168" r:id="rId19"/>
    <p:sldId id="1169" r:id="rId20"/>
    <p:sldId id="1170" r:id="rId21"/>
    <p:sldId id="1146" r:id="rId22"/>
    <p:sldId id="1144" r:id="rId23"/>
    <p:sldId id="1153" r:id="rId24"/>
    <p:sldId id="1154" r:id="rId25"/>
    <p:sldId id="1161" r:id="rId26"/>
    <p:sldId id="1163" r:id="rId27"/>
    <p:sldId id="1162" r:id="rId28"/>
    <p:sldId id="1164" r:id="rId29"/>
    <p:sldId id="1165" r:id="rId30"/>
    <p:sldId id="1110" r:id="rId3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0000FF"/>
    <a:srgbClr val="CC0000"/>
    <a:srgbClr val="6699FF"/>
    <a:srgbClr val="777777"/>
    <a:srgbClr val="FFFF6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709" autoAdjust="0"/>
  </p:normalViewPr>
  <p:slideViewPr>
    <p:cSldViewPr>
      <p:cViewPr varScale="1">
        <p:scale>
          <a:sx n="106" d="100"/>
          <a:sy n="106" d="100"/>
        </p:scale>
        <p:origin x="176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ZO ROCHA LEITE DINIZ RIBAS" userId="35eca339-42ba-47dc-aa9f-ef71efd30726" providerId="ADAL" clId="{B4F42005-CA4C-40D3-A7C2-A4BE075C329E}"/>
    <pc:docChg chg="modSld">
      <pc:chgData name="ENZO ROCHA LEITE DINIZ RIBAS" userId="35eca339-42ba-47dc-aa9f-ef71efd30726" providerId="ADAL" clId="{B4F42005-CA4C-40D3-A7C2-A4BE075C329E}" dt="2025-02-13T02:13:01.389" v="1" actId="1076"/>
      <pc:docMkLst>
        <pc:docMk/>
      </pc:docMkLst>
      <pc:sldChg chg="modSp mod">
        <pc:chgData name="ENZO ROCHA LEITE DINIZ RIBAS" userId="35eca339-42ba-47dc-aa9f-ef71efd30726" providerId="ADAL" clId="{B4F42005-CA4C-40D3-A7C2-A4BE075C329E}" dt="2025-02-13T02:13:01.389" v="1" actId="1076"/>
        <pc:sldMkLst>
          <pc:docMk/>
          <pc:sldMk cId="3379459416" sldId="1148"/>
        </pc:sldMkLst>
        <pc:spChg chg="mod">
          <ac:chgData name="ENZO ROCHA LEITE DINIZ RIBAS" userId="35eca339-42ba-47dc-aa9f-ef71efd30726" providerId="ADAL" clId="{B4F42005-CA4C-40D3-A7C2-A4BE075C329E}" dt="2025-02-13T02:13:01.389" v="1" actId="1076"/>
          <ac:spMkLst>
            <pc:docMk/>
            <pc:sldMk cId="3379459416" sldId="1148"/>
            <ac:spMk id="7" creationId="{D7F8F108-65CB-4FCF-87A7-78A2FDD56B56}"/>
          </ac:spMkLst>
        </pc:spChg>
      </pc:sldChg>
      <pc:sldChg chg="modSp mod">
        <pc:chgData name="ENZO ROCHA LEITE DINIZ RIBAS" userId="35eca339-42ba-47dc-aa9f-ef71efd30726" providerId="ADAL" clId="{B4F42005-CA4C-40D3-A7C2-A4BE075C329E}" dt="2025-02-13T01:57:52.400" v="0" actId="1076"/>
        <pc:sldMkLst>
          <pc:docMk/>
          <pc:sldMk cId="719881624" sldId="1156"/>
        </pc:sldMkLst>
        <pc:spChg chg="mod">
          <ac:chgData name="ENZO ROCHA LEITE DINIZ RIBAS" userId="35eca339-42ba-47dc-aa9f-ef71efd30726" providerId="ADAL" clId="{B4F42005-CA4C-40D3-A7C2-A4BE075C329E}" dt="2025-02-13T01:57:52.400" v="0" actId="1076"/>
          <ac:spMkLst>
            <pc:docMk/>
            <pc:sldMk cId="719881624" sldId="1156"/>
            <ac:spMk id="5" creationId="{08554C95-FD95-42D7-A6B7-7D88057214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77728-021F-4A02-8D34-024195707F4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B780B8-6507-45A6-AB2B-EBCB743DF2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49A82F-4140-4027-B70E-A64232005379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DE62D4-B7C2-4526-B741-F9CD2ECCD214}" type="slidenum">
              <a:rPr lang="pt-BR" altLang="pt-BR" smtClean="0"/>
              <a:pPr>
                <a:spcBef>
                  <a:spcPct val="0"/>
                </a:spcBef>
              </a:pPr>
              <a:t>30</a:t>
            </a:fld>
            <a:endParaRPr lang="pt-BR" altLang="pt-B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C902-5876-4402-B338-D5A38207421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507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463F1-92E5-4BBD-8C10-2E2126A38AA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6716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EF058-C0D1-4D78-9F23-1C3D3F5F518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571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0935-5B70-4671-9631-B280DFC506A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0695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3F317-F936-46DB-91F7-58293852F51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1644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7709A-8958-4297-9A64-922EE62B84A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0774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019D9-C3AB-4625-A829-F7496B273D6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0178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2F8D1-3E22-433D-B00E-1E128667CB8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592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2D13E-1D7D-49F7-9E2A-4833BB8FDCD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6145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D607-59FA-49C0-ABD2-D2CB3EBE7CF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9588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8CAC9-FD44-4050-8B42-91BC1BBB6EC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1286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98AD0-D772-4E5E-9266-F8430653A10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62611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0F7FE-A84C-4977-B4CC-69453517E2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7632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DE8B-226D-44AF-BC41-9AAD53AC7C0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5366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-15160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3EB9F45-F53C-46A8-ABD5-4DD514F6C2D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1821A16B-8627-A4DA-3D9A-573F0B61B9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6721" y="6361583"/>
            <a:ext cx="6274218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ricardo.freitas@academico.domhelder.edu.br</a:t>
            </a:r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59FF6CA9-E04C-C309-C5BC-FB9350289BF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192587"/>
            <a:ext cx="802432" cy="56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673" r:id="rId1"/>
    <p:sldLayoutId id="2147488660" r:id="rId2"/>
    <p:sldLayoutId id="2147488661" r:id="rId3"/>
    <p:sldLayoutId id="2147488662" r:id="rId4"/>
    <p:sldLayoutId id="2147488663" r:id="rId5"/>
    <p:sldLayoutId id="2147488664" r:id="rId6"/>
    <p:sldLayoutId id="2147488665" r:id="rId7"/>
    <p:sldLayoutId id="2147488666" r:id="rId8"/>
    <p:sldLayoutId id="2147488667" r:id="rId9"/>
    <p:sldLayoutId id="2147488668" r:id="rId10"/>
    <p:sldLayoutId id="2147488669" r:id="rId11"/>
    <p:sldLayoutId id="2147488670" r:id="rId12"/>
    <p:sldLayoutId id="2147488671" r:id="rId13"/>
    <p:sldLayoutId id="214748867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ncal.literacy.upenn.edu/research/index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ítulo 1"/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7623175" cy="968375"/>
          </a:xfrm>
        </p:spPr>
        <p:txBody>
          <a:bodyPr/>
          <a:lstStyle/>
          <a:p>
            <a:pPr algn="l"/>
            <a:b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pt-BR" dirty="0"/>
              <a:t>Trabalho de Conclusão de Curso I – TCC1</a:t>
            </a:r>
            <a:endParaRPr lang="pt-BR" altLang="pt-BR" sz="18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C91717-A37D-AE75-F1CA-8EBD3A9F1C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73463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D44BFFB9-459B-EAF0-A7CA-20E6EB0BF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19" y="4552950"/>
            <a:ext cx="2220761" cy="15750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33AF-CEE3-44F8-A8DE-FEAD6556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FCE1A7-A8E3-4C8E-B199-842566AB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r>
              <a:rPr lang="pt-BR" sz="2800" dirty="0"/>
              <a:t>Conhecimento</a:t>
            </a:r>
          </a:p>
          <a:p>
            <a:r>
              <a:rPr lang="pt-BR" sz="2800" dirty="0"/>
              <a:t>Ciência x Tecnologia</a:t>
            </a:r>
          </a:p>
          <a:p>
            <a:r>
              <a:rPr lang="pt-BR" sz="2800" dirty="0"/>
              <a:t>Pesquisa</a:t>
            </a:r>
          </a:p>
          <a:p>
            <a:r>
              <a:rPr lang="pt-BR" sz="2800" dirty="0"/>
              <a:t>Áreas das Ciências da Computação</a:t>
            </a:r>
          </a:p>
          <a:p>
            <a:r>
              <a:rPr lang="pt-BR" sz="2800" dirty="0"/>
              <a:t>Bases de Dados para Pesquisa</a:t>
            </a:r>
          </a:p>
          <a:p>
            <a:endParaRPr lang="pt-BR" sz="2800" dirty="0"/>
          </a:p>
          <a:p>
            <a:r>
              <a:rPr lang="pt-BR" sz="2800" dirty="0"/>
              <a:t>Exercício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811234-5DF4-4E26-A53A-972167E5E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2593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2E515-01C4-4859-9790-C14A5725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31BE8-2DA5-45C6-ABE0-D5827D513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363272" cy="5006181"/>
          </a:xfrm>
        </p:spPr>
        <p:txBody>
          <a:bodyPr/>
          <a:lstStyle/>
          <a:p>
            <a:r>
              <a:rPr lang="pt-BR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Ter ideia ou a noção de algo através de informações que lhe são apresentadas;</a:t>
            </a:r>
          </a:p>
          <a:p>
            <a:r>
              <a:rPr lang="pt-BR" altLang="pt-BR" sz="3200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alt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elação entre quem conhece e o que passa a ser conhecido; </a:t>
            </a:r>
          </a:p>
          <a:p>
            <a:r>
              <a:rPr lang="pt-BR" sz="3200" dirty="0">
                <a:solidFill>
                  <a:srgbClr val="202124"/>
                </a:solidFill>
                <a:latin typeface="arial" panose="020B0604020202020204" pitchFamily="34" charset="0"/>
              </a:rPr>
              <a:t>R</a:t>
            </a:r>
            <a:r>
              <a:rPr lang="pt-BR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esultado da interação com o meio em que vive;</a:t>
            </a:r>
          </a:p>
          <a:p>
            <a:r>
              <a:rPr lang="pt-BR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Surge a partir da necessidade do homem em compreender a realidade.</a:t>
            </a:r>
            <a:endParaRPr lang="pt-BR" alt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464976-BE26-4869-B288-A60E53D9F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2794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2E515-01C4-4859-9790-C14A5725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pt-BR" dirty="0"/>
              <a:t>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31BE8-2DA5-45C6-ABE0-D5827D513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62165"/>
          </a:xfrm>
        </p:spPr>
        <p:txBody>
          <a:bodyPr wrap="square" anchor="t">
            <a:normAutofit/>
          </a:bodyPr>
          <a:lstStyle/>
          <a:p>
            <a:r>
              <a:rPr lang="pt-BR" altLang="pt-BR" dirty="0"/>
              <a:t>Atualmente, a sociedade vive a chamada </a:t>
            </a:r>
            <a:r>
              <a:rPr lang="pt-BR" altLang="pt-BR" b="1" dirty="0"/>
              <a:t>era da informação e do conhecimento</a:t>
            </a:r>
            <a:r>
              <a:rPr lang="pt-BR" altLang="pt-BR" dirty="0"/>
              <a:t>, resultado da evolução e acumulação de competências científica e tecnológica.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77D476-B69F-46E9-A568-FCDD3E6FB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1847054"/>
            <a:ext cx="4038600" cy="35943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464976-BE26-4869-B288-A60E53D9F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6800" y="-151603"/>
            <a:ext cx="4572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3D6463F1-92E5-4BBD-8C10-2E2126A38AAB}" type="slidenum">
              <a:rPr lang="pt-BR" altLang="en-US" smtClean="0"/>
              <a:pPr>
                <a:spcAft>
                  <a:spcPts val="600"/>
                </a:spcAft>
                <a:defRPr/>
              </a:pPr>
              <a:t>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4175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6D924-F72F-4640-B718-EB2E7A87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Conhecimento -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99AA36-75E6-4CD1-BC55-369318934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pt-BR" altLang="pt-BR" sz="2300" b="1" dirty="0">
                <a:latin typeface="Arial" panose="020B0604020202020204" pitchFamily="34" charset="0"/>
                <a:cs typeface="Arial" panose="020B0604020202020204" pitchFamily="34" charset="0"/>
              </a:rPr>
              <a:t>Empírico: </a:t>
            </a:r>
            <a:r>
              <a:rPr lang="pt-BR" altLang="pt-BR" sz="2300" dirty="0">
                <a:latin typeface="Arial" panose="020B0604020202020204" pitchFamily="34" charset="0"/>
                <a:cs typeface="Arial" panose="020B0604020202020204" pitchFamily="34" charset="0"/>
              </a:rPr>
              <a:t>conhecimento prático, popular, vulgar ou de senso comum, construído com base em experiências subjetivas;</a:t>
            </a:r>
          </a:p>
          <a:p>
            <a:r>
              <a:rPr lang="pt-BR" altLang="pt-BR" sz="2300" b="1" dirty="0">
                <a:latin typeface="Arial" panose="020B0604020202020204" pitchFamily="34" charset="0"/>
                <a:cs typeface="Arial" panose="020B0604020202020204" pitchFamily="34" charset="0"/>
              </a:rPr>
              <a:t>Filosófico: </a:t>
            </a:r>
            <a:r>
              <a:rPr lang="pt-BR" altLang="pt-BR" sz="2300" dirty="0">
                <a:latin typeface="Arial" panose="020B0604020202020204" pitchFamily="34" charset="0"/>
                <a:cs typeface="Arial" panose="020B0604020202020204" pitchFamily="34" charset="0"/>
              </a:rPr>
              <a:t>compreende os estudos das relações com todo o universo, baseia-se no uso da razão para chegar a conclusões ou hipóteses sobre as coisas;</a:t>
            </a:r>
          </a:p>
          <a:p>
            <a:r>
              <a:rPr lang="pt-BR" altLang="pt-BR" sz="2300" b="1" dirty="0">
                <a:latin typeface="Arial" panose="020B0604020202020204" pitchFamily="34" charset="0"/>
                <a:cs typeface="Arial" panose="020B0604020202020204" pitchFamily="34" charset="0"/>
              </a:rPr>
              <a:t>Teológico: </a:t>
            </a:r>
            <a:r>
              <a:rPr lang="pt-BR" altLang="pt-BR" sz="2300" dirty="0">
                <a:latin typeface="Arial" panose="020B0604020202020204" pitchFamily="34" charset="0"/>
                <a:cs typeface="Arial" panose="020B0604020202020204" pitchFamily="34" charset="0"/>
              </a:rPr>
              <a:t>está relacionado com a fé e a crença divina, apoia-se em fundamentos sagrados, portanto, valorativos;</a:t>
            </a:r>
          </a:p>
          <a:p>
            <a:r>
              <a:rPr lang="pt-BR" altLang="pt-BR" sz="2300" b="1" dirty="0">
                <a:latin typeface="Arial" panose="020B0604020202020204" pitchFamily="34" charset="0"/>
                <a:cs typeface="Arial" panose="020B0604020202020204" pitchFamily="34" charset="0"/>
              </a:rPr>
              <a:t>Científico: </a:t>
            </a:r>
            <a:r>
              <a:rPr lang="pt-BR" altLang="pt-BR" sz="2300" dirty="0">
                <a:latin typeface="Arial" panose="020B0604020202020204" pitchFamily="34" charset="0"/>
                <a:cs typeface="Arial" panose="020B0604020202020204" pitchFamily="34" charset="0"/>
              </a:rPr>
              <a:t>resulta de uma investigação metódica e sistemática da realidade, buscando as causas dos fatos e as leis que os regem. Tem a característica de verificabilidade, isto é, suas hipóteses podem ser comprovadas.</a:t>
            </a:r>
            <a:endParaRPr lang="pt-BR" sz="2300" b="1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C80C1B-7D3D-4005-9939-8DE464E94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08554C95-FD95-42D7-A6B7-7D880572145D}"/>
              </a:ext>
            </a:extLst>
          </p:cNvPr>
          <p:cNvSpPr/>
          <p:nvPr/>
        </p:nvSpPr>
        <p:spPr bwMode="auto">
          <a:xfrm rot="19853586">
            <a:off x="8231447" y="3650231"/>
            <a:ext cx="2865234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Foco desta disciplina</a:t>
            </a:r>
          </a:p>
        </p:txBody>
      </p:sp>
    </p:spTree>
    <p:extLst>
      <p:ext uri="{BB962C8B-B14F-4D97-AF65-F5344CB8AC3E}">
        <p14:creationId xmlns:p14="http://schemas.microsoft.com/office/powerpoint/2010/main" val="7198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7DFB4-C007-4A04-BEC8-77B44C48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Ciência x Tecnologia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D44A54-E5AC-42B7-AC28-EC4F4B99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0725"/>
          </a:xfrm>
        </p:spPr>
        <p:txBody>
          <a:bodyPr/>
          <a:lstStyle/>
          <a:p>
            <a:r>
              <a:rPr lang="pt-BR" sz="2800" b="1" dirty="0"/>
              <a:t>Ciência</a:t>
            </a:r>
            <a:r>
              <a:rPr lang="pt-BR" sz="2800" dirty="0"/>
              <a:t>: “é a </a:t>
            </a:r>
            <a:r>
              <a:rPr lang="pt-BR" sz="2800" u="sng" dirty="0"/>
              <a:t>busca do conhecimento </a:t>
            </a:r>
            <a:r>
              <a:rPr lang="pt-BR" sz="2800" dirty="0"/>
              <a:t>e das explicações. Ela constrói teorias para explicar os fatos observados”:</a:t>
            </a:r>
          </a:p>
          <a:p>
            <a:pPr lvl="1"/>
            <a:r>
              <a:rPr lang="pt-BR" sz="2400" dirty="0"/>
              <a:t>Ela explica o mundo!</a:t>
            </a:r>
          </a:p>
          <a:p>
            <a:endParaRPr lang="pt-BR" sz="900" dirty="0"/>
          </a:p>
          <a:p>
            <a:r>
              <a:rPr lang="pt-BR" sz="2800" b="1" dirty="0"/>
              <a:t>Tecnologia</a:t>
            </a:r>
            <a:r>
              <a:rPr lang="pt-BR" sz="2800" dirty="0"/>
              <a:t>: “é a </a:t>
            </a:r>
            <a:r>
              <a:rPr lang="pt-BR" sz="2800" u="sng" dirty="0"/>
              <a:t>aplicação dos conhecimentos </a:t>
            </a:r>
            <a:r>
              <a:rPr lang="pt-BR" sz="2800" dirty="0"/>
              <a:t>nas atividades práticas, como, por exemplo, as atividades industriais e econômicas”:</a:t>
            </a:r>
          </a:p>
          <a:p>
            <a:pPr lvl="1"/>
            <a:r>
              <a:rPr lang="pt-BR" sz="2400" dirty="0"/>
              <a:t>Ela transforma o mundo!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4A0130-1222-4C78-B1F0-13D71A7C1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9514F9-7ED3-4D63-8FE0-53722A402A5D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389819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D6B38-B804-4856-B121-65AFF8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D4DC52-A8C4-48D5-9E95-1365FB08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934173"/>
          </a:xfrm>
        </p:spPr>
        <p:txBody>
          <a:bodyPr/>
          <a:lstStyle/>
          <a:p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Pesquisa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”[...] é um processo sistemático para a construção do conhecimento humano, gerando novos conhecimentos, podendo também desenvolver, colaborar, reproduzir, refutar, ampliar, detalhar, atualizar, algum conhecimento pré-existente, servindo basicamente tanto para o indivíduo ou grupo de indivíduos que a realiza quanto para a sociedade na qual esta se desenvolve.” </a:t>
            </a:r>
            <a:r>
              <a:rPr lang="pt-BR" b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(Wikipedia, 2022).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D33D7E-82C5-49BF-AC89-ED3387D61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3353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CA5D3-AB73-4E65-B2AE-DD0EE3BE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EE74E-BAB6-4A7C-94E9-B83DF2372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Pesquisa “</a:t>
            </a:r>
            <a:r>
              <a:rPr lang="pt-BR" altLang="pt-BR" dirty="0"/>
              <a:t>é um procedimento formal, com método de pensamento reflexivo, que requer um tratamento científico e se constitui no caminho para reconhecer a realidade ou para descobrir verdades parciais.”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FCC960-5E20-43DF-9570-F6043CF45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pic>
        <p:nvPicPr>
          <p:cNvPr id="5" name="Picture 4" descr="research">
            <a:hlinkClick r:id="rId2"/>
            <a:extLst>
              <a:ext uri="{FF2B5EF4-FFF2-40B4-BE49-F238E27FC236}">
                <a16:creationId xmlns:a16="http://schemas.microsoft.com/office/drawing/2014/main" id="{1A865202-E931-40B1-ADF5-1E06638ED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912935"/>
            <a:ext cx="2889026" cy="1951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48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A58B1-074F-419C-9E1F-06C40420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x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90661E-8E9F-4A7D-82ED-E358AB1CA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0"/>
              </a:spcBef>
              <a:spcAft>
                <a:spcPts val="400"/>
              </a:spcAft>
            </a:pPr>
            <a:r>
              <a:rPr lang="pt-BR" altLang="pt-BR" sz="2800" b="1" dirty="0"/>
              <a:t>Pesquisa</a:t>
            </a:r>
            <a:r>
              <a:rPr lang="pt-BR" altLang="pt-BR" sz="2800" dirty="0"/>
              <a:t> “é um conjunto de ações, propostas para encontrar a solução para um </a:t>
            </a:r>
            <a:r>
              <a:rPr lang="pt-BR" altLang="pt-BR" sz="2800" b="1" dirty="0"/>
              <a:t>problema</a:t>
            </a:r>
            <a:r>
              <a:rPr lang="pt-BR" altLang="pt-BR" sz="2800" dirty="0"/>
              <a:t>, que tem por base procedimentos racionais e sistemáticos;”</a:t>
            </a:r>
          </a:p>
          <a:p>
            <a:pPr>
              <a:lnSpc>
                <a:spcPct val="105000"/>
              </a:lnSpc>
              <a:spcBef>
                <a:spcPct val="0"/>
              </a:spcBef>
              <a:spcAft>
                <a:spcPts val="400"/>
              </a:spcAft>
            </a:pPr>
            <a:r>
              <a:rPr lang="pt-BR" altLang="pt-BR" sz="2800" u="sng" dirty="0"/>
              <a:t>Objetivo</a:t>
            </a:r>
            <a:r>
              <a:rPr lang="pt-BR" altLang="pt-BR" sz="2800" dirty="0"/>
              <a:t>: Descobrir resposta para um </a:t>
            </a:r>
            <a:r>
              <a:rPr lang="pt-BR" altLang="pt-BR" sz="2800" b="1" dirty="0"/>
              <a:t>problema</a:t>
            </a:r>
            <a:r>
              <a:rPr lang="pt-BR" altLang="pt-BR" sz="2800" dirty="0"/>
              <a:t> mediante o emprego de procedimentos científicos;</a:t>
            </a:r>
          </a:p>
          <a:p>
            <a:pPr>
              <a:lnSpc>
                <a:spcPct val="105000"/>
              </a:lnSpc>
              <a:spcBef>
                <a:spcPct val="0"/>
              </a:spcBef>
              <a:spcAft>
                <a:spcPts val="400"/>
              </a:spcAft>
            </a:pPr>
            <a:r>
              <a:rPr lang="pt-BR" altLang="pt-BR" sz="2800" u="sng" dirty="0"/>
              <a:t>Momento</a:t>
            </a:r>
            <a:r>
              <a:rPr lang="pt-BR" altLang="pt-BR" sz="2800" dirty="0"/>
              <a:t>: A pesquisa é realizada quando se tem um </a:t>
            </a:r>
            <a:r>
              <a:rPr lang="pt-BR" altLang="pt-BR" sz="2800" b="1" dirty="0"/>
              <a:t>problema</a:t>
            </a:r>
            <a:r>
              <a:rPr lang="pt-BR" altLang="pt-BR" sz="2800" dirty="0"/>
              <a:t> e não se tem informações para solucioná-lo.</a:t>
            </a:r>
          </a:p>
          <a:p>
            <a:endParaRPr lang="pt-BR" sz="2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3FEF43-079B-47AF-B19D-0F0150624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3296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3776AA-B8AA-430F-B1AE-C9B35CF4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pic>
        <p:nvPicPr>
          <p:cNvPr id="6" name="Picture 3" descr="lab">
            <a:extLst>
              <a:ext uri="{FF2B5EF4-FFF2-40B4-BE49-F238E27FC236}">
                <a16:creationId xmlns:a16="http://schemas.microsoft.com/office/drawing/2014/main" id="{E6A77D6E-6705-4F12-9EA3-E29845803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700808"/>
            <a:ext cx="1272551" cy="137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FD5BBA67-6F94-4667-9340-59B06A805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89807"/>
            <a:ext cx="3640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latin typeface="Arial" panose="020B0604020202020204" pitchFamily="34" charset="0"/>
              </a:rPr>
              <a:t>2º) Realizar a pesquisa</a:t>
            </a:r>
          </a:p>
        </p:txBody>
      </p:sp>
      <p:pic>
        <p:nvPicPr>
          <p:cNvPr id="8" name="Picture 5" descr="think">
            <a:extLst>
              <a:ext uri="{FF2B5EF4-FFF2-40B4-BE49-F238E27FC236}">
                <a16:creationId xmlns:a16="http://schemas.microsoft.com/office/drawing/2014/main" id="{48ADA06A-39B1-4B13-9BE4-7F62CA1FB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623" y="4286870"/>
            <a:ext cx="1272551" cy="137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DE3C36B7-8CDE-4539-A5D8-E03EA61AC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731819"/>
            <a:ext cx="3647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latin typeface="Arial" panose="020B0604020202020204" pitchFamily="34" charset="0"/>
              </a:rPr>
              <a:t>1º) Formular a pergunta</a:t>
            </a:r>
          </a:p>
        </p:txBody>
      </p:sp>
      <p:pic>
        <p:nvPicPr>
          <p:cNvPr id="10" name="Picture 6" descr="record">
            <a:extLst>
              <a:ext uri="{FF2B5EF4-FFF2-40B4-BE49-F238E27FC236}">
                <a16:creationId xmlns:a16="http://schemas.microsoft.com/office/drawing/2014/main" id="{CC070E91-8DF9-4144-A7E1-92F21EF5E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699" y="1773056"/>
            <a:ext cx="1272551" cy="137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0">
            <a:extLst>
              <a:ext uri="{FF2B5EF4-FFF2-40B4-BE49-F238E27FC236}">
                <a16:creationId xmlns:a16="http://schemas.microsoft.com/office/drawing/2014/main" id="{C196CA86-E499-44FE-A870-7EC93E024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1189807"/>
            <a:ext cx="38379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latin typeface="Arial" panose="020B0604020202020204" pitchFamily="34" charset="0"/>
              </a:rPr>
              <a:t>3º) Interpretar resultados</a:t>
            </a:r>
          </a:p>
        </p:txBody>
      </p:sp>
      <p:pic>
        <p:nvPicPr>
          <p:cNvPr id="12" name="Picture 7" descr="paper">
            <a:extLst>
              <a:ext uri="{FF2B5EF4-FFF2-40B4-BE49-F238E27FC236}">
                <a16:creationId xmlns:a16="http://schemas.microsoft.com/office/drawing/2014/main" id="{01B4D613-D7A2-4AC9-B588-ED17DCCE5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69" y="4286870"/>
            <a:ext cx="1272551" cy="137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1">
            <a:extLst>
              <a:ext uri="{FF2B5EF4-FFF2-40B4-BE49-F238E27FC236}">
                <a16:creationId xmlns:a16="http://schemas.microsoft.com/office/drawing/2014/main" id="{4E273E81-4EA6-4C9B-B0E0-2E0FB0DDE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5731819"/>
            <a:ext cx="35285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latin typeface="Arial" panose="020B0604020202020204" pitchFamily="34" charset="0"/>
              </a:rPr>
              <a:t>4º) Divulgar resultados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BE25A0DF-170A-4A94-96D4-C4D4E857A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203" y="3284984"/>
            <a:ext cx="736740" cy="842887"/>
          </a:xfrm>
          <a:prstGeom prst="upArrow">
            <a:avLst>
              <a:gd name="adj1" fmla="val 50000"/>
              <a:gd name="adj2" fmla="val 2651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F86A9A88-AC07-44D6-AF84-D90D7794568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53465" y="1783814"/>
            <a:ext cx="722475" cy="803717"/>
          </a:xfrm>
          <a:prstGeom prst="upArrow">
            <a:avLst>
              <a:gd name="adj1" fmla="val 50000"/>
              <a:gd name="adj2" fmla="val 3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6A36F88D-AB86-49C3-898D-A5A2C4DEF8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91861" y="3292510"/>
            <a:ext cx="803717" cy="866970"/>
          </a:xfrm>
          <a:prstGeom prst="up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D28A560-9054-477E-93C3-8C131747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22475"/>
          </a:xfrm>
        </p:spPr>
        <p:txBody>
          <a:bodyPr/>
          <a:lstStyle/>
          <a:p>
            <a:r>
              <a:rPr lang="pt-BR" dirty="0"/>
              <a:t>Pesquisa - Passos</a:t>
            </a:r>
          </a:p>
        </p:txBody>
      </p:sp>
    </p:spTree>
    <p:extLst>
      <p:ext uri="{BB962C8B-B14F-4D97-AF65-F5344CB8AC3E}">
        <p14:creationId xmlns:p14="http://schemas.microsoft.com/office/powerpoint/2010/main" val="120885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D6B38-B804-4856-B121-65AFF8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D4DC52-A8C4-48D5-9E95-1365FB08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pt-BR" dirty="0"/>
              <a:t>Comportamentais;</a:t>
            </a:r>
          </a:p>
          <a:p>
            <a:r>
              <a:rPr lang="pt-BR" dirty="0"/>
              <a:t>Tendências;</a:t>
            </a:r>
          </a:p>
          <a:p>
            <a:r>
              <a:rPr lang="pt-BR" dirty="0"/>
              <a:t>Preços;</a:t>
            </a:r>
          </a:p>
          <a:p>
            <a:r>
              <a:rPr lang="pt-BR" dirty="0"/>
              <a:t>Eleitorais;</a:t>
            </a:r>
          </a:p>
          <a:p>
            <a:r>
              <a:rPr lang="pt-BR" dirty="0"/>
              <a:t>...</a:t>
            </a:r>
          </a:p>
          <a:p>
            <a:r>
              <a:rPr lang="pt-BR" dirty="0"/>
              <a:t>Científicas;</a:t>
            </a:r>
          </a:p>
          <a:p>
            <a:r>
              <a:rPr lang="pt-BR" dirty="0"/>
              <a:t>Tecnológicas;</a:t>
            </a:r>
          </a:p>
          <a:p>
            <a:r>
              <a:rPr lang="pt-BR" dirty="0"/>
              <a:t>Etc.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D33D7E-82C5-49BF-AC89-ED3387D61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60900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658FF-66A0-4BBA-9060-B5428B84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- Formas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5264B-1BCD-409A-A839-73F3C749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530725"/>
          </a:xfrm>
        </p:spPr>
        <p:txBody>
          <a:bodyPr/>
          <a:lstStyle/>
          <a:p>
            <a:r>
              <a:rPr lang="pt-BR" b="1" dirty="0"/>
              <a:t>Pesquisa Científica</a:t>
            </a:r>
            <a:r>
              <a:rPr lang="pt-BR" dirty="0"/>
              <a:t>: “busca aumentar o conhecimento humano sobre como o mundo funciona ou poderia funcionar;”</a:t>
            </a:r>
          </a:p>
          <a:p>
            <a:endParaRPr lang="pt-BR" sz="1000" dirty="0"/>
          </a:p>
          <a:p>
            <a:r>
              <a:rPr lang="pt-BR" b="1" dirty="0"/>
              <a:t>Pesquisa tecnológica</a:t>
            </a:r>
            <a:r>
              <a:rPr lang="pt-BR" dirty="0"/>
              <a:t>: busca estudar as tecnologias existentes ou criar novas como forma de melhorar a vida das pessoas, propondo novas soluções ou produtos.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72D13B-EBAD-4B61-BD76-A65B01754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F5D7C4-8F85-44FA-9E3C-F7BE67701EB2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D7F8F108-65CB-4FCF-87A7-78A2FDD56B56}"/>
              </a:ext>
            </a:extLst>
          </p:cNvPr>
          <p:cNvSpPr/>
          <p:nvPr/>
        </p:nvSpPr>
        <p:spPr bwMode="auto">
          <a:xfrm rot="19853586">
            <a:off x="7943415" y="1841279"/>
            <a:ext cx="2865234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lang="pt-BR" dirty="0">
                <a:latin typeface="Arial" charset="0"/>
              </a:rPr>
              <a:t>Criação de aplicativos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45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objetivos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530725"/>
          </a:xfrm>
        </p:spPr>
        <p:txBody>
          <a:bodyPr/>
          <a:lstStyle/>
          <a:p>
            <a:r>
              <a:rPr lang="pt-BR" sz="2200" b="1" dirty="0"/>
              <a:t>Exploratória</a:t>
            </a:r>
            <a:r>
              <a:rPr lang="pt-BR" sz="2200" dirty="0"/>
              <a:t>: “é aquela em não se tem necessariamente uma hipótese ou objetivo definido. Ela pode ser considerada o primeiro estágio de um processo de pesquisa mais longo”;</a:t>
            </a:r>
          </a:p>
          <a:p>
            <a:r>
              <a:rPr lang="pt-BR" sz="2200" b="1" dirty="0"/>
              <a:t>Descritiva</a:t>
            </a:r>
            <a:r>
              <a:rPr lang="pt-BR" sz="2200" dirty="0"/>
              <a:t>: “é mais objetiva do que a exploratória. Com ela, busca-se obter dados mais consistentes sobre determinada realidade, mas não há ainda interferência do pesquisador ou a tentativa de obter teorias que expliquem os fenômenos”;</a:t>
            </a:r>
          </a:p>
          <a:p>
            <a:r>
              <a:rPr lang="pt-BR" sz="2200" b="1" dirty="0"/>
              <a:t>Explicativa (causal)</a:t>
            </a:r>
            <a:r>
              <a:rPr lang="pt-BR" sz="2200" dirty="0"/>
              <a:t>: “é a mais complexa e completa. É a pesquisa científica por excelência porque, além de analisar os dados observados, busca suas causas e explicações, ou seja, os fatores determinantes desses dados”.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4CD54C-902B-4267-B5F8-E1E7A226C16C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1847890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10521-A899-4A0C-BAE0-F1890665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objetivos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224BDA-ACDD-4A65-AD92-055F5E2A1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478679D8-7056-4326-83A0-500D824A3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56520"/>
              </p:ext>
            </p:extLst>
          </p:nvPr>
        </p:nvGraphicFramePr>
        <p:xfrm>
          <a:off x="647700" y="1055689"/>
          <a:ext cx="8229600" cy="5068873"/>
        </p:xfrm>
        <a:graphic>
          <a:graphicData uri="http://schemas.openxmlformats.org/drawingml/2006/table">
            <a:tbl>
              <a:tblPr/>
              <a:tblGrid>
                <a:gridCol w="135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7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7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endParaRPr kumimoji="1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Exploratória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Descritiva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Explicativa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2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Objetivo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Descoberta de ideias e dados sobre um problema.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Descreve características de certos grupos.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Determina relações de causa e efeito.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Testa hipótese sobre estas relações.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83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Caracte-rísticas</a:t>
                      </a:r>
                      <a:endParaRPr kumimoji="1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Flexível e versátil.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 geral é o início de uma pesquisa.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Estudo </a:t>
                      </a:r>
                      <a:r>
                        <a:rPr kumimoji="1" lang="pt-B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pré</a:t>
                      </a: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-planejado e estruturado.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Amostras grandes e representativas.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Manipulação de variáveis independentes e dependentes, controle de variáveis indiretas.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0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Métodos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Coleta de dados primários e secundários, pesquisa piloto, pesquisa qualitativa.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Coleta de dados secundários, levantamentos, painéis, observações.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Experimentos (testes em laboratórios, testes de mercado, etc.).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902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Tipos (quanto à </a:t>
            </a:r>
            <a:r>
              <a:rPr lang="pt-BR" i="1" dirty="0"/>
              <a:t>natureza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4530725"/>
          </a:xfrm>
        </p:spPr>
        <p:txBody>
          <a:bodyPr/>
          <a:lstStyle/>
          <a:p>
            <a:r>
              <a:rPr lang="pt-BR" b="1" dirty="0"/>
              <a:t>Básica</a:t>
            </a:r>
            <a:r>
              <a:rPr lang="pt-BR" dirty="0"/>
              <a:t>: objetiva gerar novos conhecimentos, úteis para o avanço da ciência sem aplicação prática prevista. Envolve verdades e interesses </a:t>
            </a:r>
            <a:r>
              <a:rPr lang="pt-BR" u="sng" dirty="0"/>
              <a:t>universais</a:t>
            </a:r>
            <a:r>
              <a:rPr lang="pt-BR" dirty="0"/>
              <a:t>;</a:t>
            </a:r>
          </a:p>
          <a:p>
            <a:r>
              <a:rPr lang="pt-BR" b="1" dirty="0"/>
              <a:t>Aplicada</a:t>
            </a:r>
            <a:r>
              <a:rPr lang="pt-BR" dirty="0"/>
              <a:t>: busca gerar conhecimentos para aplicação prática dirigidos à solução de problemas específicos. Envolve verdades e interesses </a:t>
            </a:r>
            <a:r>
              <a:rPr lang="pt-BR" u="sng" dirty="0"/>
              <a:t>locais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04576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Tipos (quanto à forma de </a:t>
            </a:r>
            <a:r>
              <a:rPr lang="pt-BR" i="1" dirty="0"/>
              <a:t>abordagem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248472"/>
          </a:xfrm>
        </p:spPr>
        <p:txBody>
          <a:bodyPr/>
          <a:lstStyle/>
          <a:p>
            <a:r>
              <a:rPr lang="pt-BR" sz="2400" b="1" dirty="0"/>
              <a:t>Quantitativa</a:t>
            </a:r>
            <a:r>
              <a:rPr lang="pt-BR" sz="2400" dirty="0"/>
              <a:t>: considera que tudo pode ser quantificável, o que significa traduzir opiniões e informações em números, a fim de classifica-los e analisa-los. Requer o uso de técnicas estatísticas (percentagem, média, mediana, desvio padrão, etc.);</a:t>
            </a:r>
          </a:p>
          <a:p>
            <a:r>
              <a:rPr lang="pt-BR" sz="2400" b="1" dirty="0"/>
              <a:t>Qualitativa</a:t>
            </a:r>
            <a:r>
              <a:rPr lang="pt-BR" sz="2400" dirty="0"/>
              <a:t>: considera que há um vínculo indissociável entre o mundo objetivo e a subjetividade que não pode ser traduzido em números. A interpretação dos fenômenos e a atribuição de significados são básicos neste tipo de pesquisa.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925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procedimentos</a:t>
            </a:r>
            <a:r>
              <a:rPr lang="pt-BR" dirty="0"/>
              <a:t>) 1/4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017917"/>
          </a:xfrm>
        </p:spPr>
        <p:txBody>
          <a:bodyPr/>
          <a:lstStyle/>
          <a:p>
            <a:r>
              <a:rPr lang="pt-BR" sz="2400" b="1" dirty="0"/>
              <a:t>Bibliográfica</a:t>
            </a:r>
            <a:r>
              <a:rPr lang="pt-BR" sz="2400" dirty="0"/>
              <a:t>: “implica o estudo de artigos, teses, livros e outras publicações usualmente disponibilizadas por editoras e indexadas;”</a:t>
            </a:r>
          </a:p>
          <a:p>
            <a:r>
              <a:rPr lang="pt-BR" sz="2400" b="1" dirty="0"/>
              <a:t>Documental</a:t>
            </a:r>
            <a:r>
              <a:rPr lang="pt-BR" sz="2400" dirty="0"/>
              <a:t>: “consiste na análise de documentos ou dados que não foram ainda sistematizados e publicados. Podem-se examinar relatórios de empresas, arquivos obtidos em órgãos públicos, bancos de dados, correspondências, etc. Exemplo: Pesquisar por padrões em documentos de requisitos elaborados por empresas de desenvolvimento de software;”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DDF05-5139-409D-8C92-213A5EB08855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3458461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procedimentos</a:t>
            </a:r>
            <a:r>
              <a:rPr lang="pt-BR" dirty="0"/>
              <a:t>) 2/4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017917"/>
          </a:xfrm>
        </p:spPr>
        <p:txBody>
          <a:bodyPr/>
          <a:lstStyle/>
          <a:p>
            <a:r>
              <a:rPr lang="pt-BR" sz="2400" b="1" dirty="0"/>
              <a:t>Experimental</a:t>
            </a:r>
            <a:r>
              <a:rPr lang="pt-BR" sz="2400" dirty="0"/>
              <a:t>: “caracteriza-se pela manipulação de um aspecto da realidade pelo pesquisador. Exemplo: O pesquisador introduz uma nova técnica em uma empresa de software e observa se a produtividade aumenta;”</a:t>
            </a:r>
          </a:p>
          <a:p>
            <a:r>
              <a:rPr lang="pt-BR" sz="2400" b="1" dirty="0"/>
              <a:t>De levantamento</a:t>
            </a:r>
            <a:r>
              <a:rPr lang="pt-BR" sz="2400" dirty="0"/>
              <a:t>: “feita usualmente com a aplicação de questionários a um grupo de pessoas para que se possa conhecer melhor suas opiniões e observações sobre determinado tópico;”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DDF05-5139-409D-8C92-213A5EB08855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1012212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procedimentos</a:t>
            </a:r>
            <a:r>
              <a:rPr lang="pt-BR" dirty="0"/>
              <a:t>) 3/4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5040560"/>
          </a:xfrm>
        </p:spPr>
        <p:txBody>
          <a:bodyPr/>
          <a:lstStyle/>
          <a:p>
            <a:r>
              <a:rPr lang="pt-BR" sz="2400" b="1" dirty="0"/>
              <a:t>Pesquisa-ação</a:t>
            </a:r>
            <a:r>
              <a:rPr lang="pt-BR" sz="2400" dirty="0"/>
              <a:t>: “o pesquisador interage com os pesquisados, envolvendo-se no trabalho de pesquisa de forma participativa, buscando determinado resultado;</a:t>
            </a:r>
          </a:p>
          <a:p>
            <a:r>
              <a:rPr lang="pt-BR" sz="2400" b="1" dirty="0"/>
              <a:t>Etnográfica</a:t>
            </a:r>
            <a:r>
              <a:rPr lang="pt-BR" sz="2400" dirty="0"/>
              <a:t>: “o pesquisador efetivamente mergulha em um grupo social para observar seus comportamentos. Exemplo: um pesquisador poderia ter observado em uma empresa que diferentes equipes ágeis usam diversas ferramentas de </a:t>
            </a:r>
            <a:r>
              <a:rPr lang="pt-BR" sz="2400" i="1" dirty="0"/>
              <a:t>bug </a:t>
            </a:r>
            <a:r>
              <a:rPr lang="pt-BR" sz="2400" i="1" dirty="0" err="1"/>
              <a:t>report</a:t>
            </a:r>
            <a:r>
              <a:rPr lang="pt-BR" sz="2400" dirty="0"/>
              <a:t>;”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DDF05-5139-409D-8C92-213A5EB08855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3698744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672B-6769-4E7F-A510-F515390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pt-BR" dirty="0"/>
              <a:t>Pesquisa - Tipos (quanto aos </a:t>
            </a:r>
            <a:r>
              <a:rPr lang="pt-BR" i="1" dirty="0"/>
              <a:t>procedimentos</a:t>
            </a:r>
            <a:r>
              <a:rPr lang="pt-BR" dirty="0"/>
              <a:t>) 4/4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00D1-54D3-49C1-B3AB-1A01A142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5040560"/>
          </a:xfrm>
        </p:spPr>
        <p:txBody>
          <a:bodyPr/>
          <a:lstStyle/>
          <a:p>
            <a:r>
              <a:rPr lang="pt-BR" sz="2400" b="1" dirty="0"/>
              <a:t>Estudo de caso - exploratório</a:t>
            </a:r>
            <a:r>
              <a:rPr lang="pt-BR" sz="2400" dirty="0"/>
              <a:t>: “o pesquisador vai estudar em profundidade alguma situação. Exemplo: o funcionamento de uma equipe ágil, para observar problemas e comportamentos e possivelmente elaborar hipóteses para um estudo posterior;”</a:t>
            </a:r>
          </a:p>
          <a:p>
            <a:r>
              <a:rPr lang="pt-BR" sz="2400" b="1" dirty="0"/>
              <a:t>Estudo de caso - confirmatório</a:t>
            </a:r>
            <a:r>
              <a:rPr lang="pt-BR" sz="2400" dirty="0"/>
              <a:t>: “ou </a:t>
            </a:r>
            <a:r>
              <a:rPr lang="pt-BR" sz="2400" b="1" dirty="0"/>
              <a:t>prova de conceito</a:t>
            </a:r>
            <a:r>
              <a:rPr lang="pt-BR" sz="2400" dirty="0"/>
              <a:t>, é feito para mostrar que na prática determinada teoria efetivamente se confirma.”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F755CC-A312-4DEE-881B-2A998CBCE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DDF05-5139-409D-8C92-213A5EB08855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3162738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F41F3-7AA0-4AA3-B50D-091D9ED2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- Estilos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2E88B0-2BDE-4DDE-B891-0044B4303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000"/>
            <a:ext cx="8229600" cy="5006181"/>
          </a:xfrm>
        </p:spPr>
        <p:txBody>
          <a:bodyPr/>
          <a:lstStyle/>
          <a:p>
            <a:r>
              <a:rPr lang="pt-BR" sz="2700" b="1" dirty="0"/>
              <a:t>Formal</a:t>
            </a:r>
            <a:r>
              <a:rPr lang="pt-BR" sz="2700" dirty="0"/>
              <a:t>: “é exigida a elaboração de uma teoria e uma prova formal de que essa teoria é correta”;</a:t>
            </a:r>
          </a:p>
          <a:p>
            <a:r>
              <a:rPr lang="pt-BR" sz="2700" b="1" dirty="0"/>
              <a:t>Empírica</a:t>
            </a:r>
            <a:r>
              <a:rPr lang="pt-BR" sz="2700" dirty="0"/>
              <a:t>: “uma nova abordagem apresentada é comparada com outras por meio de testes aceitos pela comunidade (análises quantitativas)”;</a:t>
            </a:r>
          </a:p>
          <a:p>
            <a:r>
              <a:rPr lang="pt-BR" sz="2700" b="1" dirty="0"/>
              <a:t>Exploratória</a:t>
            </a:r>
            <a:r>
              <a:rPr lang="pt-BR" sz="2700" dirty="0"/>
              <a:t>: “não se consegue provar uma teoria nem apresentar resultados estatisticamente aceitos (estudos de caso, análises qualitativas, etc.)”.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109E72-9ACE-4C78-B914-E3E6A2D15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71F18D-A164-492F-85F4-ED603872B32D}"/>
              </a:ext>
            </a:extLst>
          </p:cNvPr>
          <p:cNvSpPr txBox="1"/>
          <p:nvPr/>
        </p:nvSpPr>
        <p:spPr>
          <a:xfrm>
            <a:off x="364004" y="5805264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</a:t>
            </a:r>
            <a:r>
              <a:rPr lang="pt-BR" sz="1400" dirty="0" err="1"/>
              <a:t>Wazlawick</a:t>
            </a:r>
            <a:r>
              <a:rPr lang="pt-BR" sz="1400" dirty="0"/>
              <a:t> (2020). </a:t>
            </a:r>
          </a:p>
        </p:txBody>
      </p:sp>
    </p:spTree>
    <p:extLst>
      <p:ext uri="{BB962C8B-B14F-4D97-AF65-F5344CB8AC3E}">
        <p14:creationId xmlns:p14="http://schemas.microsoft.com/office/powerpoint/2010/main" val="736410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45280-34AE-4C66-9DA8-7DEC75FB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pt-BR" dirty="0"/>
              <a:t>Áreas das Ciências da Computação</a:t>
            </a:r>
          </a:p>
        </p:txBody>
      </p:sp>
      <p:pic>
        <p:nvPicPr>
          <p:cNvPr id="5" name="Picture 2" descr="O que faz uma pessoa formada em ciências da computação?">
            <a:extLst>
              <a:ext uri="{FF2B5EF4-FFF2-40B4-BE49-F238E27FC236}">
                <a16:creationId xmlns:a16="http://schemas.microsoft.com/office/drawing/2014/main" id="{6F7328FB-07C3-4A45-9441-3A9C93FF1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7" r="18683"/>
          <a:stretch/>
        </p:blipFill>
        <p:spPr bwMode="auto">
          <a:xfrm>
            <a:off x="457200" y="1268760"/>
            <a:ext cx="4038600" cy="486216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2C3D27-5F95-4DE2-8F24-7B82BB987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862165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Aplicações </a:t>
            </a:r>
            <a:r>
              <a:rPr lang="pt-BR" sz="1800" dirty="0"/>
              <a:t>comerciais e de escritório;</a:t>
            </a:r>
          </a:p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Compiladores e Sistemas Operacionais;</a:t>
            </a:r>
          </a:p>
          <a:p>
            <a:pPr>
              <a:lnSpc>
                <a:spcPct val="90000"/>
              </a:lnSpc>
            </a:pPr>
            <a:r>
              <a:rPr lang="pt-BR" sz="1800" dirty="0"/>
              <a:t>C</a:t>
            </a:r>
            <a:r>
              <a:rPr lang="pt-BR" sz="1800" b="0" i="0" dirty="0">
                <a:effectLst/>
              </a:rPr>
              <a:t>omputação gráfica (CAD);</a:t>
            </a:r>
          </a:p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Redes de computadores, computação móvel e sistemas distribuídos;</a:t>
            </a:r>
          </a:p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Codificação, criptografia e proteção de informação;</a:t>
            </a:r>
          </a:p>
          <a:p>
            <a:pPr>
              <a:lnSpc>
                <a:spcPct val="90000"/>
              </a:lnSpc>
            </a:pPr>
            <a:r>
              <a:rPr lang="pt-BR" sz="1800" dirty="0"/>
              <a:t>Computação na nuvem (Cloud Computer);</a:t>
            </a:r>
          </a:p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Sistemas embarcados e I</a:t>
            </a:r>
            <a:r>
              <a:rPr lang="pt-BR" sz="1800" dirty="0"/>
              <a:t>nternet das Coisas (</a:t>
            </a:r>
            <a:r>
              <a:rPr lang="pt-BR" sz="1800" dirty="0" err="1"/>
              <a:t>IoT</a:t>
            </a:r>
            <a:r>
              <a:rPr lang="pt-BR" sz="1800" dirty="0"/>
              <a:t>);</a:t>
            </a:r>
            <a:endParaRPr lang="pt-BR" sz="1800" b="0" i="0" dirty="0">
              <a:effectLst/>
            </a:endParaRPr>
          </a:p>
          <a:p>
            <a:pPr>
              <a:lnSpc>
                <a:spcPct val="90000"/>
              </a:lnSpc>
            </a:pPr>
            <a:r>
              <a:rPr lang="pt-BR" sz="1800" b="0" i="0" dirty="0">
                <a:effectLst/>
              </a:rPr>
              <a:t>Redes neurais e Inteligência Artificial (IA);</a:t>
            </a:r>
          </a:p>
          <a:p>
            <a:pPr>
              <a:lnSpc>
                <a:spcPct val="90000"/>
              </a:lnSpc>
            </a:pPr>
            <a:r>
              <a:rPr lang="pt-BR" sz="1800" dirty="0"/>
              <a:t>Visão computacional e Robótica;</a:t>
            </a:r>
          </a:p>
          <a:p>
            <a:pPr>
              <a:lnSpc>
                <a:spcPct val="90000"/>
              </a:lnSpc>
            </a:pPr>
            <a:r>
              <a:rPr lang="pt-BR" sz="1800" dirty="0"/>
              <a:t>Etc.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ED32E2-580F-44AE-84F8-DA5B20234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6800" y="-151603"/>
            <a:ext cx="4572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3D6463F1-92E5-4BBD-8C10-2E2126A38AAB}" type="slidenum">
              <a:rPr lang="pt-BR" altLang="en-US" smtClean="0"/>
              <a:pPr>
                <a:spcAft>
                  <a:spcPts val="600"/>
                </a:spcAft>
                <a:defRPr/>
              </a:pPr>
              <a:t>22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31575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9C6B4-463B-4C47-99A9-E449272B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Bases de Dados para Pesquisa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1C600A-47B9-4EF9-AC99-82C277E89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3C821A66-8A9A-4E29-BE85-5E1F68183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044431"/>
              </p:ext>
            </p:extLst>
          </p:nvPr>
        </p:nvGraphicFramePr>
        <p:xfrm>
          <a:off x="457200" y="1268760"/>
          <a:ext cx="8229599" cy="4536504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2746648">
                  <a:extLst>
                    <a:ext uri="{9D8B030D-6E8A-4147-A177-3AD203B41FA5}">
                      <a16:colId xmlns:a16="http://schemas.microsoft.com/office/drawing/2014/main" val="3931455116"/>
                    </a:ext>
                  </a:extLst>
                </a:gridCol>
                <a:gridCol w="3685840">
                  <a:extLst>
                    <a:ext uri="{9D8B030D-6E8A-4147-A177-3AD203B41FA5}">
                      <a16:colId xmlns:a16="http://schemas.microsoft.com/office/drawing/2014/main" val="4044633581"/>
                    </a:ext>
                  </a:extLst>
                </a:gridCol>
                <a:gridCol w="1797111">
                  <a:extLst>
                    <a:ext uri="{9D8B030D-6E8A-4147-A177-3AD203B41FA5}">
                      <a16:colId xmlns:a16="http://schemas.microsoft.com/office/drawing/2014/main" val="3467964642"/>
                    </a:ext>
                  </a:extLst>
                </a:gridCol>
              </a:tblGrid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Fonte de informação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Endereço online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Tipo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0424971"/>
                  </a:ext>
                </a:extLst>
              </a:tr>
              <a:tr h="4884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IEEE </a:t>
                      </a:r>
                      <a:r>
                        <a:rPr lang="pt-BR" sz="1600" dirty="0" err="1">
                          <a:effectLst/>
                        </a:rPr>
                        <a:t>Xplore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ieeexplore.ieee.org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Base bibliográfica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15312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ACM digital </a:t>
                      </a:r>
                      <a:r>
                        <a:rPr lang="pt-BR" sz="1600" dirty="0" err="1">
                          <a:effectLst/>
                        </a:rPr>
                        <a:t>library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dl.acm.org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Híbrida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6084306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 err="1">
                          <a:effectLst/>
                        </a:rPr>
                        <a:t>Citeseer</a:t>
                      </a:r>
                      <a:r>
                        <a:rPr lang="pt-BR" sz="1600" dirty="0">
                          <a:effectLst/>
                        </a:rPr>
                        <a:t> </a:t>
                      </a:r>
                      <a:r>
                        <a:rPr lang="pt-BR" sz="1600" dirty="0" err="1">
                          <a:effectLst/>
                        </a:rPr>
                        <a:t>library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citeseerx.ist.psu.edu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Motor de busca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027442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Google Scholar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scholar.google.com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Motor de busca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1094556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Inspec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www.theiet.org/publishing/inspec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Motor de busca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6903397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 err="1">
                          <a:effectLst/>
                        </a:rPr>
                        <a:t>Engineering</a:t>
                      </a:r>
                      <a:r>
                        <a:rPr lang="pt-BR" sz="1600" dirty="0">
                          <a:effectLst/>
                        </a:rPr>
                        <a:t> Village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www.engineeringvillage.com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Motor de busca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4154051"/>
                  </a:ext>
                </a:extLst>
              </a:tr>
              <a:tr h="4884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Springer Link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link.springer.com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600">
                          <a:effectLst/>
                        </a:rPr>
                        <a:t>Base bibliográfica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413782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600">
                          <a:effectLst/>
                        </a:rPr>
                        <a:t>Scopus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600" dirty="0">
                          <a:effectLst/>
                        </a:rPr>
                        <a:t>www.scopus.com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Motor de busca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2483645"/>
                  </a:ext>
                </a:extLst>
              </a:tr>
              <a:tr h="4884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ScienceDirect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www.sciencedirect.com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Base bibliográfica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7232108"/>
                  </a:ext>
                </a:extLst>
              </a:tr>
              <a:tr h="4884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Wiley online library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onlinelibrary.wiley.com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Híbrida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1050"/>
                  </a:ext>
                </a:extLst>
              </a:tr>
              <a:tr h="3228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Isi Web of Science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login.webofknowledge.com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Motor de busca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7047912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8A9A7099-3C83-48DC-A381-FB6150A73C60}"/>
              </a:ext>
            </a:extLst>
          </p:cNvPr>
          <p:cNvSpPr txBox="1"/>
          <p:nvPr/>
        </p:nvSpPr>
        <p:spPr>
          <a:xfrm>
            <a:off x="364004" y="5785519"/>
            <a:ext cx="72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Fonte</a:t>
            </a:r>
            <a:r>
              <a:rPr lang="pt-BR" sz="1400" dirty="0"/>
              <a:t>: Adaptada de Felizardo et al. (2017). </a:t>
            </a:r>
          </a:p>
        </p:txBody>
      </p:sp>
    </p:spTree>
    <p:extLst>
      <p:ext uri="{BB962C8B-B14F-4D97-AF65-F5344CB8AC3E}">
        <p14:creationId xmlns:p14="http://schemas.microsoft.com/office/powerpoint/2010/main" val="726556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0F4C-B937-4B19-9940-399412EB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7ADBB-872D-46C5-8C18-C96F6B682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WAZLAWICK, Raul Sidnei. </a:t>
            </a:r>
            <a:r>
              <a:rPr lang="pt-BR" sz="2000" b="1" dirty="0"/>
              <a:t>Metodologia de pesquisa para ciência da computação</a:t>
            </a:r>
            <a:r>
              <a:rPr lang="pt-BR" sz="2000" dirty="0"/>
              <a:t>. Elsevier, 3ª ed., 2020.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FELIZARDO, K. R., NAKAGAWA, E. Y., FABBRI, S. C. P. F., FERRARI, F. C. </a:t>
            </a:r>
            <a:r>
              <a:rPr lang="pt-BR" sz="2000" b="1" dirty="0"/>
              <a:t>Revisão sistemática da literatura em engenharia de software</a:t>
            </a:r>
            <a:r>
              <a:rPr lang="pt-BR" sz="2000" dirty="0"/>
              <a:t>: teoria e prática. Rio de Janeiro: Elsevier, 2017.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PESQUISA. In: WIKIPÉDIA, a enciclopédia livre. Flórida: </a:t>
            </a:r>
            <a:r>
              <a:rPr lang="pt-BR" sz="2000" dirty="0" err="1"/>
              <a:t>Wikimedia</a:t>
            </a:r>
            <a:r>
              <a:rPr lang="pt-BR" sz="2000" dirty="0"/>
              <a:t> Foundation, 2021. Disponível em: &lt;https://pt.wikipedia.org/w/</a:t>
            </a:r>
            <a:r>
              <a:rPr lang="pt-BR" sz="2000" dirty="0" err="1"/>
              <a:t>index.php?title</a:t>
            </a:r>
            <a:r>
              <a:rPr lang="pt-BR" sz="2000" dirty="0"/>
              <a:t>=</a:t>
            </a:r>
            <a:r>
              <a:rPr lang="pt-BR" sz="2000" dirty="0" err="1"/>
              <a:t>Pesquisa&amp;oldid</a:t>
            </a:r>
            <a:r>
              <a:rPr lang="pt-BR" sz="2000" dirty="0"/>
              <a:t>=61781933&gt;. Acesso em: 7 fev. 2022.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59DF7-CA8C-494F-A00E-40041E399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46336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B7EE-6871-4E8A-85DA-8B72DD52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6576A-683E-4F38-B9D2-E8B50557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Parte 1 (pergunta):</a:t>
            </a:r>
          </a:p>
          <a:p>
            <a:pPr lvl="1"/>
            <a:r>
              <a:rPr lang="pt-BR" dirty="0"/>
              <a:t>Formule uma questão a ser pesquisada por você na forma de uma pergunta;</a:t>
            </a:r>
          </a:p>
          <a:p>
            <a:pPr lvl="1"/>
            <a:r>
              <a:rPr lang="pt-BR" dirty="0"/>
              <a:t>Assegure-se que ela está clara e precisa, e não gerará dúvidas de quem a ler;</a:t>
            </a:r>
          </a:p>
          <a:p>
            <a:pPr lvl="1"/>
            <a:r>
              <a:rPr lang="pt-BR" dirty="0"/>
              <a:t>Ela deve ser compreendida por todos das mesma forma.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Esta etapa do exercício deverá ser feita de forma individual.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5FBB91-693E-41D7-AF16-3A6D3001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21795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B7EE-6871-4E8A-85DA-8B72DD52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6576A-683E-4F38-B9D2-E8B50557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Parte 2 (coleta de dados exploratória):</a:t>
            </a:r>
          </a:p>
          <a:p>
            <a:pPr lvl="1"/>
            <a:r>
              <a:rPr lang="pt-BR" dirty="0"/>
              <a:t>Submeta esta questão aos seus colegas de grupo sem expor seu sentido ou maiores explicações;</a:t>
            </a:r>
          </a:p>
          <a:p>
            <a:pPr lvl="1"/>
            <a:r>
              <a:rPr lang="pt-BR" dirty="0"/>
              <a:t>Cada pessoa do grupo deverá informar a você o que entendeu da questão (pergunta).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Esta etapa do exercício deverá ser feita em grupo.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5FBB91-693E-41D7-AF16-3A6D3001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6120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B7EE-6871-4E8A-85DA-8B72DD52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6576A-683E-4F38-B9D2-E8B50557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Parte 3 (análise dos resultados):</a:t>
            </a:r>
          </a:p>
          <a:p>
            <a:pPr lvl="1"/>
            <a:r>
              <a:rPr lang="pt-BR" dirty="0"/>
              <a:t>Verifique se as interpretações de todos do grupo, à sua questão (pergunta), convergiram e corresponderam às suas expectativas e objetivos;</a:t>
            </a:r>
          </a:p>
          <a:p>
            <a:pPr lvl="1"/>
            <a:r>
              <a:rPr lang="pt-BR" dirty="0"/>
              <a:t>Caso contrário, reformule sua questão de pesquisa (pergunta) e refaça o processo.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Esta etapa do exercício deverá ser feita de forma individual.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5FBB91-693E-41D7-AF16-3A6D3001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27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00952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B7EE-6871-4E8A-85DA-8B72DD52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6576A-683E-4F38-B9D2-E8B50557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Parte 4 (hipótese de pesquisa):</a:t>
            </a:r>
          </a:p>
          <a:p>
            <a:pPr lvl="1"/>
            <a:r>
              <a:rPr lang="pt-BR" dirty="0"/>
              <a:t>Formule a hipótese de sua pesquisa a partir da questão validada nos passos anteriores;</a:t>
            </a:r>
          </a:p>
          <a:p>
            <a:pPr lvl="1"/>
            <a:r>
              <a:rPr lang="pt-BR" dirty="0"/>
              <a:t>A Hipótese de pesquisa deverá ser comprovada (ou não) ao fim da sua pesquisa.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Esta etapa do exercício deverá ser feita de forma individual.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5FBB91-693E-41D7-AF16-3A6D3001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63477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B7EE-6871-4E8A-85DA-8B72DD52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6576A-683E-4F38-B9D2-E8B505575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30725"/>
          </a:xfrm>
        </p:spPr>
        <p:txBody>
          <a:bodyPr/>
          <a:lstStyle/>
          <a:p>
            <a:r>
              <a:rPr lang="pt-BR" dirty="0"/>
              <a:t>Parte 5 (classificação da pesquisa):</a:t>
            </a:r>
          </a:p>
          <a:p>
            <a:pPr lvl="1"/>
            <a:r>
              <a:rPr lang="pt-BR" sz="2500" dirty="0"/>
              <a:t>Quanto a </a:t>
            </a:r>
            <a:r>
              <a:rPr lang="pt-BR" sz="2500" b="1" dirty="0"/>
              <a:t>forma</a:t>
            </a:r>
            <a:r>
              <a:rPr lang="pt-BR" sz="2500" dirty="0"/>
              <a:t>: científica ou tecnológica?</a:t>
            </a:r>
          </a:p>
          <a:p>
            <a:pPr lvl="1"/>
            <a:r>
              <a:rPr lang="pt-BR" sz="2500" dirty="0"/>
              <a:t>Quanto aos </a:t>
            </a:r>
            <a:r>
              <a:rPr lang="pt-BR" sz="2500" b="1" dirty="0"/>
              <a:t>objetivos</a:t>
            </a:r>
            <a:r>
              <a:rPr lang="pt-BR" sz="2500" dirty="0"/>
              <a:t>: exploratória, descritiva ou explicativa?</a:t>
            </a:r>
          </a:p>
          <a:p>
            <a:pPr lvl="1"/>
            <a:r>
              <a:rPr lang="pt-BR" sz="2500" dirty="0"/>
              <a:t>Quanto a </a:t>
            </a:r>
            <a:r>
              <a:rPr lang="pt-BR" sz="2500" b="1" dirty="0"/>
              <a:t>natureza</a:t>
            </a:r>
            <a:r>
              <a:rPr lang="pt-BR" sz="2500" dirty="0"/>
              <a:t>: básica ou aplicada?</a:t>
            </a:r>
          </a:p>
          <a:p>
            <a:pPr lvl="1"/>
            <a:r>
              <a:rPr lang="pt-BR" sz="2500" dirty="0"/>
              <a:t>Quanto aos </a:t>
            </a:r>
            <a:r>
              <a:rPr lang="pt-BR" sz="2500" b="1" dirty="0"/>
              <a:t>procedimentos técnicos</a:t>
            </a:r>
            <a:r>
              <a:rPr lang="pt-BR" sz="2500" dirty="0"/>
              <a:t>?</a:t>
            </a:r>
          </a:p>
          <a:p>
            <a:pPr lvl="1"/>
            <a:r>
              <a:rPr lang="pt-BR" sz="2500" dirty="0"/>
              <a:t>Quanto ao </a:t>
            </a:r>
            <a:r>
              <a:rPr lang="pt-BR" sz="2500" b="1" dirty="0"/>
              <a:t>estilo</a:t>
            </a:r>
            <a:r>
              <a:rPr lang="pt-BR" sz="2500" dirty="0"/>
              <a:t>: formal, empírica ou exploratória?</a:t>
            </a:r>
          </a:p>
          <a:p>
            <a:pPr lvl="1"/>
            <a:r>
              <a:rPr lang="pt-BR" sz="2500" dirty="0"/>
              <a:t>Ela se refere a qual </a:t>
            </a:r>
            <a:r>
              <a:rPr lang="pt-BR" sz="2500" b="1" dirty="0"/>
              <a:t>área</a:t>
            </a:r>
            <a:r>
              <a:rPr lang="pt-BR" sz="2500" dirty="0"/>
              <a:t> da Ciência da Computação?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5FBB91-693E-41D7-AF16-3A6D30010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57311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2D125A-2C11-7A35-1B87-515CA983DB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01008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2687</TotalTime>
  <Words>1996</Words>
  <Application>Microsoft Office PowerPoint</Application>
  <PresentationFormat>Apresentação na tela (4:3)</PresentationFormat>
  <Paragraphs>231</Paragraphs>
  <Slides>30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8" baseType="lpstr">
      <vt:lpstr>arial</vt:lpstr>
      <vt:lpstr>arial</vt:lpstr>
      <vt:lpstr>Calibri</vt:lpstr>
      <vt:lpstr>Garamond</vt:lpstr>
      <vt:lpstr>Monotype Sorts</vt:lpstr>
      <vt:lpstr>Times New Roman</vt:lpstr>
      <vt:lpstr>Wingdings</vt:lpstr>
      <vt:lpstr>Borda</vt:lpstr>
      <vt:lpstr>  Trabalho de Conclusão de Curso I – TCC1</vt:lpstr>
      <vt:lpstr>Aula 2</vt:lpstr>
      <vt:lpstr>Conhecimento</vt:lpstr>
      <vt:lpstr>Conhecimento</vt:lpstr>
      <vt:lpstr>Conhecimento - Tipos</vt:lpstr>
      <vt:lpstr>Ciência x Tecnologia</vt:lpstr>
      <vt:lpstr>Pesquisa - Conceito</vt:lpstr>
      <vt:lpstr>Pesquisa - Conceito</vt:lpstr>
      <vt:lpstr>Pesquisa x Problema</vt:lpstr>
      <vt:lpstr>Pesquisa - Passos</vt:lpstr>
      <vt:lpstr>Pesquisa - Exemplos</vt:lpstr>
      <vt:lpstr>Pesquisas - Formas</vt:lpstr>
      <vt:lpstr>Pesquisa - Tipos (quanto aos objetivos)</vt:lpstr>
      <vt:lpstr>Pesquisa - Tipos (quanto aos objetivos)</vt:lpstr>
      <vt:lpstr>Pesquisa - Tipos (quanto à natureza)</vt:lpstr>
      <vt:lpstr>Pesquisa - Tipos (quanto à forma de abordagem)</vt:lpstr>
      <vt:lpstr>Pesquisa - Tipos (quanto aos procedimentos) 1/4</vt:lpstr>
      <vt:lpstr>Pesquisa - Tipos (quanto aos procedimentos) 2/4</vt:lpstr>
      <vt:lpstr>Pesquisa - Tipos (quanto aos procedimentos) 3/4</vt:lpstr>
      <vt:lpstr>Pesquisa - Tipos (quanto aos procedimentos) 4/4</vt:lpstr>
      <vt:lpstr>Pesquisa - Estilos</vt:lpstr>
      <vt:lpstr>Áreas das Ciências da Computação</vt:lpstr>
      <vt:lpstr>Bases de Dados para Pesquisa</vt:lpstr>
      <vt:lpstr>Referências</vt:lpstr>
      <vt:lpstr>Exercício</vt:lpstr>
      <vt:lpstr>Exercício</vt:lpstr>
      <vt:lpstr>Exercício</vt:lpstr>
      <vt:lpstr>Exercício</vt:lpstr>
      <vt:lpstr>Exercício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 de Dados I</dc:title>
  <dc:creator>Ricardo Luiz Freitas</dc:creator>
  <cp:lastModifiedBy>ENZO ROCHA LEITE DINIZ RIBAS</cp:lastModifiedBy>
  <cp:revision>46</cp:revision>
  <dcterms:created xsi:type="dcterms:W3CDTF">2020-08-07T15:17:51Z</dcterms:created>
  <dcterms:modified xsi:type="dcterms:W3CDTF">2025-02-13T02:13:12Z</dcterms:modified>
</cp:coreProperties>
</file>