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8674" r:id="rId2"/>
  </p:sldMasterIdLst>
  <p:notesMasterIdLst>
    <p:notesMasterId r:id="rId38"/>
  </p:notesMasterIdLst>
  <p:handoutMasterIdLst>
    <p:handoutMasterId r:id="rId39"/>
  </p:handoutMasterIdLst>
  <p:sldIdLst>
    <p:sldId id="256" r:id="rId3"/>
    <p:sldId id="1152" r:id="rId4"/>
    <p:sldId id="1154" r:id="rId5"/>
    <p:sldId id="1155" r:id="rId6"/>
    <p:sldId id="1153" r:id="rId7"/>
    <p:sldId id="1156" r:id="rId8"/>
    <p:sldId id="1162" r:id="rId9"/>
    <p:sldId id="1174" r:id="rId10"/>
    <p:sldId id="1173" r:id="rId11"/>
    <p:sldId id="1175" r:id="rId12"/>
    <p:sldId id="1176" r:id="rId13"/>
    <p:sldId id="1177" r:id="rId14"/>
    <p:sldId id="1178" r:id="rId15"/>
    <p:sldId id="1157" r:id="rId16"/>
    <p:sldId id="1164" r:id="rId17"/>
    <p:sldId id="1165" r:id="rId18"/>
    <p:sldId id="1158" r:id="rId19"/>
    <p:sldId id="1159" r:id="rId20"/>
    <p:sldId id="1166" r:id="rId21"/>
    <p:sldId id="1180" r:id="rId22"/>
    <p:sldId id="1181" r:id="rId23"/>
    <p:sldId id="1182" r:id="rId24"/>
    <p:sldId id="1185" r:id="rId25"/>
    <p:sldId id="1186" r:id="rId26"/>
    <p:sldId id="1187" r:id="rId27"/>
    <p:sldId id="1184" r:id="rId28"/>
    <p:sldId id="1161" r:id="rId29"/>
    <p:sldId id="1167" r:id="rId30"/>
    <p:sldId id="1168" r:id="rId31"/>
    <p:sldId id="1179" r:id="rId32"/>
    <p:sldId id="1169" r:id="rId33"/>
    <p:sldId id="1170" r:id="rId34"/>
    <p:sldId id="1171" r:id="rId35"/>
    <p:sldId id="1183" r:id="rId36"/>
    <p:sldId id="1110" r:id="rId37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0000FF"/>
    <a:srgbClr val="CC0000"/>
    <a:srgbClr val="6699FF"/>
    <a:srgbClr val="777777"/>
    <a:srgbClr val="FFFF6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5F1EF-4B82-4764-9794-152FB0715A78}" v="35" dt="2022-02-05T01:02:48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709" autoAdjust="0"/>
  </p:normalViewPr>
  <p:slideViewPr>
    <p:cSldViewPr>
      <p:cViewPr varScale="1">
        <p:scale>
          <a:sx n="42" d="100"/>
          <a:sy n="4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77728-021F-4A02-8D34-024195707F4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B780B8-6507-45A6-AB2B-EBCB743DF2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49A82F-4140-4027-B70E-A64232005379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DE62D4-B7C2-4526-B741-F9CD2ECCD214}" type="slidenum">
              <a:rPr lang="pt-BR" altLang="pt-BR" smtClean="0"/>
              <a:pPr>
                <a:spcBef>
                  <a:spcPct val="0"/>
                </a:spcBef>
              </a:pPr>
              <a:t>35</a:t>
            </a:fld>
            <a:endParaRPr lang="pt-BR" altLang="pt-B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C902-5876-4402-B338-D5A38207421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507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463F1-92E5-4BBD-8C10-2E2126A38AA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6716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EF058-C0D1-4D78-9F23-1C3D3F5F518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571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0935-5B70-4671-9631-B280DFC506A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0695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3F317-F936-46DB-91F7-58293852F51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1644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7709A-8958-4297-9A64-922EE62B84A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0774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019D9-C3AB-4625-A829-F7496B273D6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0178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2F8D1-3E22-433D-B00E-1E128667CB8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592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2D13E-1D7D-49F7-9E2A-4833BB8FDCD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6145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D607-59FA-49C0-ABD2-D2CB3EBE7CF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9588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8CAC9-FD44-4050-8B42-91BC1BBB6EC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1286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98AD0-D772-4E5E-9266-F8430653A10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62611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0F7FE-A84C-4977-B4CC-69453517E2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7632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DE8B-226D-44AF-BC41-9AAD53AC7C0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53660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24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248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426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074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706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5176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578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990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385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409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33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-15160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3EB9F45-F53C-46A8-ABD5-4DD514F6C2D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2B7D01A5-3298-2A84-390C-70B9B830A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6721" y="6361583"/>
            <a:ext cx="6274218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ricardo.freitas@academico.domhelder.edu.br</a:t>
            </a: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DF521EED-DB95-5290-D190-43407B943A0E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192587"/>
            <a:ext cx="802432" cy="56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673" r:id="rId1"/>
    <p:sldLayoutId id="2147488660" r:id="rId2"/>
    <p:sldLayoutId id="2147488661" r:id="rId3"/>
    <p:sldLayoutId id="2147488662" r:id="rId4"/>
    <p:sldLayoutId id="2147488663" r:id="rId5"/>
    <p:sldLayoutId id="2147488664" r:id="rId6"/>
    <p:sldLayoutId id="2147488665" r:id="rId7"/>
    <p:sldLayoutId id="2147488666" r:id="rId8"/>
    <p:sldLayoutId id="2147488667" r:id="rId9"/>
    <p:sldLayoutId id="2147488668" r:id="rId10"/>
    <p:sldLayoutId id="2147488669" r:id="rId11"/>
    <p:sldLayoutId id="2147488670" r:id="rId12"/>
    <p:sldLayoutId id="2147488671" r:id="rId13"/>
    <p:sldLayoutId id="214748867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6799B-3E06-4451-ADF6-7058611784EC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863D-8881-4E43-8D7B-CB1990928B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78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675" r:id="rId1"/>
    <p:sldLayoutId id="2147488676" r:id="rId2"/>
    <p:sldLayoutId id="2147488677" r:id="rId3"/>
    <p:sldLayoutId id="2147488678" r:id="rId4"/>
    <p:sldLayoutId id="2147488679" r:id="rId5"/>
    <p:sldLayoutId id="2147488680" r:id="rId6"/>
    <p:sldLayoutId id="2147488681" r:id="rId7"/>
    <p:sldLayoutId id="2147488682" r:id="rId8"/>
    <p:sldLayoutId id="2147488683" r:id="rId9"/>
    <p:sldLayoutId id="2147488684" r:id="rId10"/>
    <p:sldLayoutId id="2147488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ítulo 1"/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7623175" cy="968375"/>
          </a:xfrm>
        </p:spPr>
        <p:txBody>
          <a:bodyPr/>
          <a:lstStyle/>
          <a:p>
            <a:pPr algn="l"/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/>
            </a:r>
            <a:b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pt-BR" dirty="0"/>
              <a:t>Trabalho de Conclusão de Curso I – TCC1</a:t>
            </a:r>
            <a:endParaRPr lang="pt-BR" altLang="pt-BR" sz="18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EDE4E5-51B2-AC21-FFEE-87378650AC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73463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8F135C47-342D-A677-3EF2-20F1B5809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19" y="4552950"/>
            <a:ext cx="2220761" cy="15750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33AF-CEE3-44F8-A8DE-FEAD6556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Aula 3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FCE1A7-A8E3-4C8E-B199-842566AB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905296"/>
          </a:xfrm>
        </p:spPr>
        <p:txBody>
          <a:bodyPr/>
          <a:lstStyle/>
          <a:p>
            <a:r>
              <a:rPr lang="pt-BR" sz="2000" dirty="0"/>
              <a:t>Partes do Projeto:</a:t>
            </a:r>
          </a:p>
          <a:p>
            <a:pPr lvl="1"/>
            <a:r>
              <a:rPr lang="pt-BR" sz="1800" dirty="0"/>
              <a:t>Capa (Título);</a:t>
            </a:r>
          </a:p>
          <a:p>
            <a:pPr lvl="1"/>
            <a:r>
              <a:rPr lang="pt-BR" sz="1800" dirty="0"/>
              <a:t>Folha de rosto;</a:t>
            </a:r>
          </a:p>
          <a:p>
            <a:pPr lvl="1"/>
            <a:r>
              <a:rPr lang="pt-BR" sz="1800" dirty="0"/>
              <a:t>Introdução;</a:t>
            </a:r>
          </a:p>
          <a:p>
            <a:pPr lvl="1"/>
            <a:r>
              <a:rPr lang="pt-BR" sz="1800" dirty="0"/>
              <a:t>Problematização/hipóteses (OPCIONAL);</a:t>
            </a:r>
          </a:p>
          <a:p>
            <a:pPr lvl="1"/>
            <a:r>
              <a:rPr lang="pt-BR" sz="1800" dirty="0"/>
              <a:t>Objetivos (gerais e específicos);</a:t>
            </a:r>
          </a:p>
          <a:p>
            <a:pPr lvl="1"/>
            <a:r>
              <a:rPr lang="pt-BR" sz="1800" dirty="0"/>
              <a:t>Justificativa;</a:t>
            </a:r>
          </a:p>
          <a:p>
            <a:pPr lvl="1"/>
            <a:r>
              <a:rPr lang="pt-BR" sz="1800" dirty="0"/>
              <a:t>Referencial teórico;</a:t>
            </a:r>
          </a:p>
          <a:p>
            <a:pPr lvl="1"/>
            <a:r>
              <a:rPr lang="pt-BR" sz="1800" dirty="0"/>
              <a:t>Metodologia;</a:t>
            </a:r>
          </a:p>
          <a:p>
            <a:pPr lvl="1"/>
            <a:r>
              <a:rPr lang="pt-BR" sz="1800" dirty="0"/>
              <a:t>Resultados esperados (OPCIONAL);</a:t>
            </a:r>
          </a:p>
          <a:p>
            <a:pPr lvl="1"/>
            <a:r>
              <a:rPr lang="pt-BR" sz="1800" dirty="0"/>
              <a:t>Conclusão (OPCIONAL);</a:t>
            </a:r>
          </a:p>
          <a:p>
            <a:pPr lvl="1"/>
            <a:r>
              <a:rPr lang="pt-BR" sz="1800" dirty="0"/>
              <a:t>Cronograma (OPCIONAL);</a:t>
            </a:r>
          </a:p>
          <a:p>
            <a:pPr lvl="1"/>
            <a:r>
              <a:rPr lang="pt-BR" sz="1800" dirty="0"/>
              <a:t>Referências (ou Bibliografia);</a:t>
            </a:r>
          </a:p>
          <a:p>
            <a:pPr lvl="1"/>
            <a:r>
              <a:rPr lang="pt-BR" sz="1800" dirty="0"/>
              <a:t>Apêndice (OPCIONAL);</a:t>
            </a:r>
          </a:p>
          <a:p>
            <a:pPr lvl="1"/>
            <a:r>
              <a:rPr lang="pt-BR" sz="1800" dirty="0"/>
              <a:t>Anexos (OPCIONAL).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811234-5DF4-4E26-A53A-972167E5E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2593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4C51E-2996-41AE-9507-BFACB97C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6F8A8-C01A-4FC5-8388-B1FC8AF94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473248"/>
          </a:xfrm>
        </p:spPr>
        <p:txBody>
          <a:bodyPr/>
          <a:lstStyle/>
          <a:p>
            <a:r>
              <a:rPr lang="pt-BR" sz="2500" dirty="0"/>
              <a:t>Utilize conceitos e expressões simples e claras;</a:t>
            </a:r>
          </a:p>
          <a:p>
            <a:r>
              <a:rPr lang="pt-BR" sz="2500" dirty="0"/>
              <a:t>Deve ser conciso e não entrar em detalhes;</a:t>
            </a:r>
          </a:p>
          <a:p>
            <a:r>
              <a:rPr lang="pt-BR" sz="2500" dirty="0"/>
              <a:t>Não pode ser genérico pois não motiva a leitura do trabalho;</a:t>
            </a:r>
          </a:p>
          <a:p>
            <a:r>
              <a:rPr lang="pt-BR" sz="2500" dirty="0"/>
              <a:t>Ele provoca e atrai por meio da síntese de ideias;</a:t>
            </a:r>
          </a:p>
          <a:p>
            <a:r>
              <a:rPr lang="pt-BR" sz="2500" dirty="0"/>
              <a:t>Título grande pode gerar confusão;</a:t>
            </a:r>
          </a:p>
          <a:p>
            <a:r>
              <a:rPr lang="pt-BR" sz="2500" dirty="0"/>
              <a:t>Sempre pode ser mudado ao longo do trabalho;</a:t>
            </a:r>
          </a:p>
          <a:p>
            <a:endParaRPr lang="pt-BR" sz="2500" dirty="0"/>
          </a:p>
          <a:p>
            <a:r>
              <a:rPr lang="pt-BR" sz="2500" b="1" dirty="0"/>
              <a:t>Subtítulo</a:t>
            </a:r>
            <a:r>
              <a:rPr lang="pt-BR" sz="2500" dirty="0"/>
              <a:t>: Utilize apenas para clarificar, caso contrário ele é desnecessário.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563525-766A-4FDE-A840-1507F7E87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389F9E-0620-4DCD-8CC9-D61CE6450B78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9060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F2862-B360-4AC6-B9E3-75B2FB70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25599E-98AA-457B-B5CE-2B532B6C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761280"/>
          </a:xfrm>
        </p:spPr>
        <p:txBody>
          <a:bodyPr/>
          <a:lstStyle/>
          <a:p>
            <a:r>
              <a:rPr lang="pt-BR" sz="2400" dirty="0"/>
              <a:t>Apresentará de forma mais detalhada o tema (descrição geral da área e da abrangência do estudo) e o problema de pesquisa. </a:t>
            </a:r>
          </a:p>
          <a:p>
            <a:r>
              <a:rPr lang="pt-BR" sz="2400" dirty="0"/>
              <a:t>Conterá também os elementos que já foram mencionados no projeto de pesquisa (objetivos gerais e específicos, justificativa e metodologia). </a:t>
            </a:r>
          </a:p>
          <a:p>
            <a:r>
              <a:rPr lang="pt-BR" sz="2400" dirty="0"/>
              <a:t>Em geral, o capítulo de introdução é fechado por uma descrição sucinta dos demais capítulos do trabalho, porém, devem-se evitar introduções muito longas;</a:t>
            </a:r>
          </a:p>
          <a:p>
            <a:r>
              <a:rPr lang="pt-BR" sz="2400" dirty="0"/>
              <a:t>Tal exposição deve ser inteligível mesmo para pessoas não especializadas na disciplina em cujo contexto se formula e se realiza a pesquisa.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0C747D-9C52-4986-8288-334FA6077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5007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E747A-3E6A-4F45-901A-52F6E5E3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dirty="0"/>
              <a:t>Problematização/hipóteses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08F595-E657-4328-A9DF-EF44A8834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É a tese a ser defendida no trabalho e, por ter tal característica de “possibilidade” de resposta, no final da pesquisa ela poder ser confirmada ou refutada;</a:t>
            </a:r>
          </a:p>
          <a:p>
            <a:r>
              <a:rPr lang="pt-BR" sz="2500" dirty="0"/>
              <a:t>É destinada a explicar provisoriamente um problema até que os fatos venham a contradizê-la ou confirmá-la;</a:t>
            </a:r>
          </a:p>
          <a:p>
            <a:r>
              <a:rPr lang="pt-BR" sz="2500" dirty="0"/>
              <a:t>É uma proposição testável que pode vir a ser a solução do problema;</a:t>
            </a:r>
          </a:p>
          <a:p>
            <a:r>
              <a:rPr lang="pt-BR" sz="2500" dirty="0"/>
              <a:t>Portanto, de forma muito simples, é a “resposta provisória” para o problema de pesquisa formulado em relação ao tema.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5D7D4E-EB8E-464A-A7C5-2DA920276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7264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761280"/>
          </a:xfrm>
        </p:spPr>
        <p:txBody>
          <a:bodyPr/>
          <a:lstStyle/>
          <a:p>
            <a:r>
              <a:rPr lang="pt-BR" dirty="0"/>
              <a:t>Indicar de forma genérica qual objetivo deve ser alcançado;</a:t>
            </a:r>
          </a:p>
          <a:p>
            <a:r>
              <a:rPr lang="pt-BR" dirty="0"/>
              <a:t>Está ligado a uma visão global e abrangente do tema;</a:t>
            </a:r>
          </a:p>
          <a:p>
            <a:r>
              <a:rPr lang="pt-BR" dirty="0"/>
              <a:t>Apresenta-se como resultado do problema de pesquisa. Exemplo:</a:t>
            </a:r>
          </a:p>
          <a:p>
            <a:pPr lvl="1"/>
            <a:r>
              <a:rPr lang="pt-BR" b="1" dirty="0"/>
              <a:t>Problema</a:t>
            </a:r>
            <a:r>
              <a:rPr lang="pt-BR" dirty="0"/>
              <a:t>: Qual o melhor sistema de custos para ser implementado na empresa XX?</a:t>
            </a:r>
          </a:p>
          <a:p>
            <a:pPr lvl="1"/>
            <a:r>
              <a:rPr lang="pt-BR" b="1" dirty="0"/>
              <a:t>Objetivo Geral</a:t>
            </a:r>
            <a:r>
              <a:rPr lang="pt-BR" dirty="0"/>
              <a:t>: Implementar um Sistema de Custos na empresa XX.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3218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Específicos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dirty="0"/>
              <a:t>Responde às perguntas: “O QUÊ?” e “PARA QUEM FAZER?;</a:t>
            </a:r>
          </a:p>
          <a:p>
            <a:r>
              <a:rPr lang="pt-BR" dirty="0"/>
              <a:t>São desdobramentos do objetivo geral, como as etapas a serem cumpridas para atingir o mesmo;</a:t>
            </a:r>
          </a:p>
          <a:p>
            <a:r>
              <a:rPr lang="pt-BR" dirty="0"/>
              <a:t>Têm função intermediária e instrumental, aplicado a situações particulares;</a:t>
            </a:r>
          </a:p>
          <a:p>
            <a:r>
              <a:rPr lang="pt-BR" dirty="0"/>
              <a:t>Apresentam caráter mais concreto.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7708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833288"/>
          </a:xfrm>
        </p:spPr>
        <p:txBody>
          <a:bodyPr/>
          <a:lstStyle/>
          <a:p>
            <a:r>
              <a:rPr lang="pt-BR" sz="2800" b="1" dirty="0"/>
              <a:t>Objetivo Geral</a:t>
            </a:r>
            <a:r>
              <a:rPr lang="pt-BR" sz="2800" dirty="0"/>
              <a:t>: </a:t>
            </a:r>
          </a:p>
          <a:p>
            <a:pPr lvl="1"/>
            <a:r>
              <a:rPr lang="pt-BR" sz="2400" dirty="0"/>
              <a:t>Qual o objetivo a ser alcançado;</a:t>
            </a:r>
          </a:p>
          <a:p>
            <a:pPr lvl="1"/>
            <a:r>
              <a:rPr lang="pt-BR" sz="2400" dirty="0"/>
              <a:t>Normalmente é constituído de um único verbo no infinitivo.</a:t>
            </a:r>
          </a:p>
          <a:p>
            <a:pPr lvl="1"/>
            <a:endParaRPr lang="pt-BR" sz="2000" dirty="0">
              <a:solidFill>
                <a:schemeClr val="bg2"/>
              </a:solidFill>
              <a:latin typeface="Arial" pitchFamily="34" charset="0"/>
            </a:endParaRPr>
          </a:p>
          <a:p>
            <a:r>
              <a:rPr lang="pt-BR" sz="2800" b="1" dirty="0"/>
              <a:t>Objetivos Específicos</a:t>
            </a:r>
            <a:r>
              <a:rPr lang="pt-BR" sz="2800" dirty="0"/>
              <a:t>:</a:t>
            </a:r>
          </a:p>
          <a:p>
            <a:pPr lvl="1"/>
            <a:r>
              <a:rPr lang="pt-BR" sz="2400" dirty="0"/>
              <a:t>Tornar operacional, o que será alcançado;</a:t>
            </a:r>
          </a:p>
          <a:p>
            <a:pPr lvl="1"/>
            <a:r>
              <a:rPr lang="pt-BR" sz="2400" dirty="0"/>
              <a:t>Não é uma regra, mas em geral são os capítulos e seus tópicos na composição do trabalho.</a:t>
            </a:r>
          </a:p>
          <a:p>
            <a:pPr lvl="1"/>
            <a:r>
              <a:rPr lang="pt-BR" sz="2400" dirty="0"/>
              <a:t>Utilizar verbos no infinitivo, tais como: verificar, avaliar, identificar, explicar, etc., todos passíveis de mensuração.</a:t>
            </a:r>
          </a:p>
          <a:p>
            <a:pPr lvl="1"/>
            <a:endParaRPr lang="pt-BR" sz="2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9301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– Exemplo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1320"/>
          </a:xfrm>
        </p:spPr>
        <p:txBody>
          <a:bodyPr/>
          <a:lstStyle/>
          <a:p>
            <a:r>
              <a:rPr lang="pt-BR" sz="2000" b="1" dirty="0"/>
              <a:t>Tema: </a:t>
            </a:r>
            <a:r>
              <a:rPr lang="pt-BR" sz="1800" dirty="0"/>
              <a:t>Sistemas de custos;</a:t>
            </a:r>
          </a:p>
          <a:p>
            <a:r>
              <a:rPr lang="pt-BR" sz="2000" b="1" dirty="0"/>
              <a:t>Problema: </a:t>
            </a:r>
            <a:r>
              <a:rPr lang="pt-BR" sz="1800" dirty="0"/>
              <a:t>Qual o melhor sistema de custo a ser implantando na empresa X?</a:t>
            </a:r>
          </a:p>
          <a:p>
            <a:r>
              <a:rPr lang="pt-BR" sz="2000" b="1" dirty="0"/>
              <a:t>Hipóteses:</a:t>
            </a:r>
          </a:p>
          <a:p>
            <a:pPr lvl="1"/>
            <a:r>
              <a:rPr lang="pt-BR" sz="1800" dirty="0"/>
              <a:t>O sistema de custo Y é o melhor a ser implantado na empresa X;</a:t>
            </a:r>
          </a:p>
          <a:p>
            <a:pPr lvl="1"/>
            <a:r>
              <a:rPr lang="pt-BR" sz="1800" dirty="0"/>
              <a:t>O sistema de custo Z não deve ser implantando na empresa X;</a:t>
            </a:r>
          </a:p>
          <a:p>
            <a:r>
              <a:rPr lang="pt-BR" sz="2000" b="1" dirty="0"/>
              <a:t>Objetivo Geral</a:t>
            </a:r>
            <a:r>
              <a:rPr lang="pt-BR" sz="2000" dirty="0"/>
              <a:t>: </a:t>
            </a:r>
          </a:p>
          <a:p>
            <a:pPr lvl="1"/>
            <a:r>
              <a:rPr lang="pt-BR" sz="1800" dirty="0"/>
              <a:t>Implementar um sistema de custos na empresa X;</a:t>
            </a:r>
          </a:p>
          <a:p>
            <a:r>
              <a:rPr lang="pt-BR" sz="2000" b="1" dirty="0"/>
              <a:t>Objetivos Específicos</a:t>
            </a:r>
            <a:r>
              <a:rPr lang="pt-BR" sz="2000" dirty="0"/>
              <a:t>:</a:t>
            </a:r>
          </a:p>
          <a:p>
            <a:pPr lvl="1"/>
            <a:r>
              <a:rPr lang="pt-BR" sz="1800" dirty="0"/>
              <a:t>Levantar os indicadores de custos na empresa X;</a:t>
            </a:r>
          </a:p>
          <a:p>
            <a:pPr lvl="1"/>
            <a:r>
              <a:rPr lang="pt-BR" sz="1800" dirty="0"/>
              <a:t>Apresentar aos gestores da empresa X indicadores de gerenciamento de custos;</a:t>
            </a:r>
          </a:p>
          <a:p>
            <a:pPr lvl="1"/>
            <a:r>
              <a:rPr lang="pt-BR" sz="1800" dirty="0"/>
              <a:t>Avaliar os diferentes sistemas de custos do mercado possíveis de serem implementados na empresa X.</a:t>
            </a:r>
          </a:p>
          <a:p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6220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– Exemplo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1320"/>
          </a:xfrm>
        </p:spPr>
        <p:txBody>
          <a:bodyPr/>
          <a:lstStyle/>
          <a:p>
            <a:r>
              <a:rPr lang="pt-BR" sz="2000" b="1" dirty="0"/>
              <a:t>Tema: </a:t>
            </a:r>
            <a:r>
              <a:rPr lang="pt-BR" altLang="pt-BR" sz="1800" dirty="0"/>
              <a:t>Marketing de Relacionamento</a:t>
            </a:r>
            <a:r>
              <a:rPr lang="pt-BR" sz="1800" dirty="0"/>
              <a:t>;</a:t>
            </a:r>
          </a:p>
          <a:p>
            <a:r>
              <a:rPr lang="pt-BR" sz="2000" b="1" dirty="0"/>
              <a:t>Problema: </a:t>
            </a:r>
            <a:r>
              <a:rPr lang="pt-BR" sz="1800" dirty="0"/>
              <a:t>Quais são as ações de marketing de relacionamento que poderão ser tomadas pela empresa X junto aos seus clientes?</a:t>
            </a:r>
          </a:p>
          <a:p>
            <a:r>
              <a:rPr lang="pt-BR" sz="2000" b="1" dirty="0"/>
              <a:t>Hipóteses:</a:t>
            </a:r>
          </a:p>
          <a:p>
            <a:pPr lvl="1"/>
            <a:r>
              <a:rPr lang="pt-BR" sz="1800" dirty="0"/>
              <a:t>O uso de redes sociais melhorou o relacionamento da empresa com seus clientes;</a:t>
            </a:r>
          </a:p>
          <a:p>
            <a:pPr lvl="1"/>
            <a:r>
              <a:rPr lang="pt-BR" sz="1800" dirty="0"/>
              <a:t>A contratação de uma empresa de marketing fez com que a empresa ganhasse mais clientes;</a:t>
            </a:r>
          </a:p>
          <a:p>
            <a:r>
              <a:rPr lang="pt-BR" sz="2000" b="1" dirty="0"/>
              <a:t>Objetivo Geral</a:t>
            </a:r>
            <a:r>
              <a:rPr lang="pt-BR" sz="2000" dirty="0"/>
              <a:t>: </a:t>
            </a:r>
          </a:p>
          <a:p>
            <a:pPr lvl="1"/>
            <a:r>
              <a:rPr lang="pt-BR" sz="1800" dirty="0"/>
              <a:t>Identificar as ações de marketing de relacionamento que poderão ser tomadas pela empresa X junto aos seus clientes;</a:t>
            </a:r>
          </a:p>
          <a:p>
            <a:r>
              <a:rPr lang="pt-BR" sz="2000" b="1" dirty="0"/>
              <a:t>Objetivos Específicos</a:t>
            </a:r>
            <a:r>
              <a:rPr lang="pt-BR" sz="2000" dirty="0"/>
              <a:t>:</a:t>
            </a:r>
          </a:p>
          <a:p>
            <a:pPr lvl="1"/>
            <a:r>
              <a:rPr lang="pt-BR" sz="1800" dirty="0"/>
              <a:t>Analisar as atividades de marketing de relacionamento realizadas pela empresa X junto aos seus clientes;</a:t>
            </a:r>
          </a:p>
          <a:p>
            <a:pPr lvl="1"/>
            <a:r>
              <a:rPr lang="pt-BR" sz="1800" dirty="0"/>
              <a:t>Identificar as ações de marketing de relacionamento sugeridas por autores da área.</a:t>
            </a:r>
          </a:p>
          <a:p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64260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– Exemplo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1320"/>
          </a:xfrm>
        </p:spPr>
        <p:txBody>
          <a:bodyPr/>
          <a:lstStyle/>
          <a:p>
            <a:r>
              <a:rPr lang="pt-BR" sz="2000" b="1" dirty="0"/>
              <a:t>Tema: </a:t>
            </a:r>
            <a:r>
              <a:rPr lang="pt-BR" altLang="pt-BR" sz="1800" dirty="0"/>
              <a:t>Redes </a:t>
            </a:r>
            <a:r>
              <a:rPr lang="pt-BR" altLang="pt-BR" sz="1800" dirty="0" err="1"/>
              <a:t>inter</a:t>
            </a:r>
            <a:r>
              <a:rPr lang="pt-BR" altLang="pt-BR" sz="1800" dirty="0"/>
              <a:t> organizacionais</a:t>
            </a:r>
            <a:r>
              <a:rPr lang="pt-BR" sz="1800" dirty="0"/>
              <a:t>;</a:t>
            </a:r>
          </a:p>
          <a:p>
            <a:r>
              <a:rPr lang="pt-BR" sz="2000" b="1" dirty="0"/>
              <a:t>Problema: </a:t>
            </a:r>
            <a:r>
              <a:rPr lang="pt-BR" sz="1800" dirty="0"/>
              <a:t>Como os atores se apoiam no sistema de rede atuando como sistema de referência de competição, obter aprendizado, inovação, referências competitivas e formulam e processam estratégias para competição e ou cooperação?</a:t>
            </a:r>
          </a:p>
          <a:p>
            <a:r>
              <a:rPr lang="pt-BR" sz="2000" b="1" dirty="0"/>
              <a:t>Hipóteses: </a:t>
            </a:r>
            <a:r>
              <a:rPr lang="pt-BR" sz="2000" dirty="0"/>
              <a:t>(próximo slide)</a:t>
            </a:r>
            <a:endParaRPr lang="pt-BR" sz="2000" b="1" dirty="0"/>
          </a:p>
          <a:p>
            <a:r>
              <a:rPr lang="pt-BR" sz="2000" b="1" dirty="0"/>
              <a:t>Objetivo Geral</a:t>
            </a:r>
            <a:r>
              <a:rPr lang="pt-BR" sz="2000" dirty="0"/>
              <a:t>: </a:t>
            </a:r>
          </a:p>
          <a:p>
            <a:pPr lvl="1"/>
            <a:r>
              <a:rPr lang="pt-BR" sz="1800" dirty="0"/>
              <a:t>Descrever de que maneira a estrutura de relacionamento entre as empresas de TI da grande Belo Horizonte determina a competição, a cooperação e o aprendizado organizacional por meio da aplicação de um modelo hipotético, de modo a contribuir para os estudos das redes </a:t>
            </a:r>
            <a:r>
              <a:rPr lang="pt-BR" sz="1800" dirty="0" err="1"/>
              <a:t>inter</a:t>
            </a:r>
            <a:r>
              <a:rPr lang="pt-BR" sz="1800" dirty="0"/>
              <a:t> organizacionais;</a:t>
            </a:r>
          </a:p>
          <a:p>
            <a:r>
              <a:rPr lang="pt-BR" sz="2000" b="1" dirty="0"/>
              <a:t>Objetivos Específicos</a:t>
            </a:r>
            <a:r>
              <a:rPr lang="pt-BR" sz="2000" dirty="0"/>
              <a:t>:</a:t>
            </a:r>
          </a:p>
          <a:p>
            <a:pPr lvl="1"/>
            <a:r>
              <a:rPr lang="pt-BR" sz="1800" dirty="0"/>
              <a:t>Analisar o tamanho, a densidade, a centralidade e a coesão das redes como forma de verificar a existência, a intensidade e a potencialidade [...].</a:t>
            </a:r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3619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– Exemplo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1320"/>
          </a:xfrm>
        </p:spPr>
        <p:txBody>
          <a:bodyPr/>
          <a:lstStyle/>
          <a:p>
            <a:r>
              <a:rPr lang="pt-BR" sz="2000" b="1" dirty="0"/>
              <a:t>Hipóteses:</a:t>
            </a:r>
          </a:p>
          <a:p>
            <a:pPr lvl="1"/>
            <a:r>
              <a:rPr lang="pt-BR" sz="1800" u="sng" dirty="0"/>
              <a:t>Hipótese 1 (H1)</a:t>
            </a:r>
            <a:r>
              <a:rPr lang="pt-BR" sz="1800" dirty="0"/>
              <a:t>: </a:t>
            </a:r>
            <a:r>
              <a:rPr lang="pt-BR" sz="1800" i="1" dirty="0"/>
              <a:t>Lei da redução de riscos e incertezas de mercados</a:t>
            </a:r>
            <a:r>
              <a:rPr lang="pt-BR" sz="1800" dirty="0"/>
              <a:t>: A primeira hipótese do modelo considera que a cooperação é baseada na atuação em redes, e quanto maior a intensidade da atuação em rede, maior será o relacionamento de cooperação (contrária à fragmentação);</a:t>
            </a:r>
          </a:p>
          <a:p>
            <a:pPr lvl="1"/>
            <a:r>
              <a:rPr lang="pt-BR" sz="1800" u="sng" dirty="0"/>
              <a:t>Hipótese 2 (H2)</a:t>
            </a:r>
            <a:r>
              <a:rPr lang="pt-BR" sz="1800" dirty="0"/>
              <a:t>: </a:t>
            </a:r>
            <a:r>
              <a:rPr lang="pt-BR" sz="1800" i="1" dirty="0"/>
              <a:t>Lei dos ganhos vertical e horizontal da atuação em rede</a:t>
            </a:r>
            <a:r>
              <a:rPr lang="pt-BR" sz="1800" dirty="0"/>
              <a:t>: Pressupõe-se a existência da intenção de uma política de relacionamento fruto da cooperação entre os atores da rede, e quanto maior for a cooperação, maior será a intenção de estabelecer uma política favorável a manutenção e ampliação de trocas de experiência e fortalecimento do relacionamento;</a:t>
            </a:r>
          </a:p>
          <a:p>
            <a:pPr lvl="1"/>
            <a:r>
              <a:rPr lang="pt-BR" sz="1800" u="sng" dirty="0"/>
              <a:t>Hipótese 3 (H3)</a:t>
            </a:r>
            <a:r>
              <a:rPr lang="pt-BR" sz="1800" dirty="0"/>
              <a:t>: </a:t>
            </a:r>
            <a:r>
              <a:rPr lang="pt-BR" sz="1800" i="1" dirty="0"/>
              <a:t>Lei utilitária de mais valia de aprendizado em rede</a:t>
            </a:r>
            <a:r>
              <a:rPr lang="pt-BR" sz="1800" dirty="0"/>
              <a:t>: a terceira hipótese parte do pressuposto de que, com um relacionamento de cooperação (H1) apoiado em uma política de relacionamento (H2), surge o aprendizado relacional mais intenso com a percepção de 42 ganhos para crescimento nos planos coletivo e individual. Quanto mais intensa for a cooperação, maior será o aprendizado;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56026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41F0-C07A-452D-83B8-14C1EA3F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– Exemplo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7088D-64A6-4263-90E4-D255D6A5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1320"/>
          </a:xfrm>
        </p:spPr>
        <p:txBody>
          <a:bodyPr/>
          <a:lstStyle/>
          <a:p>
            <a:pPr lvl="1"/>
            <a:r>
              <a:rPr lang="pt-BR" sz="1800" u="sng" dirty="0"/>
              <a:t>Hipótese 4 (H4)</a:t>
            </a:r>
            <a:r>
              <a:rPr lang="pt-BR" sz="1800" dirty="0"/>
              <a:t>: </a:t>
            </a:r>
            <a:r>
              <a:rPr lang="pt-BR" sz="1800" i="1" dirty="0"/>
              <a:t>Lei utilitária do aprendizado em rede</a:t>
            </a:r>
            <a:r>
              <a:rPr lang="pt-BR" sz="1800" dirty="0"/>
              <a:t>: Caso o processo da aprendizagem relacional enfraqueça ou não se forme, a tendência da rede é fragmentar-se. Espera-se que quanto menos intenso for a sensação de perda de aprendizado relacional maior será a fragmentação.</a:t>
            </a:r>
          </a:p>
          <a:p>
            <a:pPr lvl="1"/>
            <a:r>
              <a:rPr lang="pt-BR" sz="1800" u="sng" dirty="0"/>
              <a:t>Hipótese 5 (H5)</a:t>
            </a:r>
            <a:r>
              <a:rPr lang="pt-BR" sz="1800" dirty="0"/>
              <a:t>: </a:t>
            </a:r>
            <a:r>
              <a:rPr lang="pt-BR" sz="1800" i="1" dirty="0"/>
              <a:t>Lei da ruptura de cooperação</a:t>
            </a:r>
            <a:r>
              <a:rPr lang="pt-BR" sz="1800" dirty="0"/>
              <a:t>: ao constatar a tendência de fragmentação da rede (H4), presume-se no aumento da competição e a cooperação poderá ser comprometida e a competição incentivada.</a:t>
            </a:r>
          </a:p>
          <a:p>
            <a:pPr lvl="1"/>
            <a:r>
              <a:rPr lang="pt-BR" sz="1800" u="sng" dirty="0"/>
              <a:t>Hipótese 6 (H6)</a:t>
            </a:r>
            <a:r>
              <a:rPr lang="pt-BR" sz="1800" dirty="0"/>
              <a:t>: </a:t>
            </a:r>
            <a:r>
              <a:rPr lang="pt-BR" sz="1800" i="1" dirty="0"/>
              <a:t>Lei da competição por falta de cooperação</a:t>
            </a:r>
            <a:r>
              <a:rPr lang="pt-BR" sz="1800" dirty="0"/>
              <a:t>: a sexta hipótese parte da premissa de que quanto menor for a cooperação maior a tendência de se competir.</a:t>
            </a:r>
          </a:p>
          <a:p>
            <a:pPr lvl="1"/>
            <a:r>
              <a:rPr lang="pt-BR" sz="1800" u="sng" dirty="0"/>
              <a:t>Hipótese 7 (H7)</a:t>
            </a:r>
            <a:r>
              <a:rPr lang="pt-BR" sz="1800" dirty="0"/>
              <a:t>: </a:t>
            </a:r>
            <a:r>
              <a:rPr lang="pt-BR" sz="1800" i="1" dirty="0"/>
              <a:t>Lei do ciclo de equilíbrio de jogos sociais de relacionamentos das redes</a:t>
            </a:r>
            <a:r>
              <a:rPr lang="pt-BR" sz="1800" dirty="0"/>
              <a:t>: Inseridos em um ambiente de competição, mas com uma estrutura de aglomeração (seja territorial ou virtual) já estabelecida, os participantes da rede evitarão o confronto explícito e iniciarão novamente uma política de relacionamento baseada na cooperação.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F7D08-FE60-42E5-879B-741B2353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81772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141F8-3D07-4133-A7A8-4DCDF5AD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AE650-4F18-4772-8B02-FF12C721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761280"/>
          </a:xfrm>
        </p:spPr>
        <p:txBody>
          <a:bodyPr/>
          <a:lstStyle/>
          <a:p>
            <a:r>
              <a:rPr lang="pt-BR" sz="2800" dirty="0"/>
              <a:t>Responde a pergunta “POR QUÊ?”;</a:t>
            </a:r>
          </a:p>
          <a:p>
            <a:r>
              <a:rPr lang="pt-BR" sz="2800" dirty="0"/>
              <a:t>Como o próprio nome indica, é o convencimento de que o trabalho de pesquisa deve ser efetivado;</a:t>
            </a:r>
          </a:p>
          <a:p>
            <a:r>
              <a:rPr lang="pt-BR" sz="2800" dirty="0"/>
              <a:t>Apresente as relevâncias técnicas, científicas e sociais de sua proposta;</a:t>
            </a:r>
          </a:p>
          <a:p>
            <a:r>
              <a:rPr lang="pt-BR" sz="2800" dirty="0"/>
              <a:t>Explicite argumentos que indiquem que sua pesquisa é significativa, importante ou </a:t>
            </a:r>
            <a:r>
              <a:rPr lang="pt-BR" sz="2800" dirty="0" smtClean="0"/>
              <a:t>relevante.</a:t>
            </a:r>
            <a:endParaRPr lang="pt-BR" sz="2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95EC42-EE50-4895-9B8B-99E453A27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197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141F8-3D07-4133-A7A8-4DCDF5AD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AE650-4F18-4772-8B02-FF12C721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833288"/>
          </a:xfrm>
        </p:spPr>
        <p:txBody>
          <a:bodyPr/>
          <a:lstStyle/>
          <a:p>
            <a:r>
              <a:rPr lang="pt-BR" sz="2400" dirty="0"/>
              <a:t>Para ajudar, tente pensar nos três itens que não podem deixar de ser observados na justificativa:</a:t>
            </a:r>
          </a:p>
          <a:p>
            <a:pPr lvl="1"/>
            <a:r>
              <a:rPr lang="pt-BR" sz="2000" b="1" dirty="0"/>
              <a:t>IMPORTÂNCIA</a:t>
            </a:r>
            <a:r>
              <a:rPr lang="pt-BR" sz="2000" dirty="0"/>
              <a:t>: Que revela o porquê de se estudar tal tema. Por que o estudo desse tema é importante para a área em questão (Inteligência Artificial, por exemplo) e para você como pesquisador? Aqui se concentra a chamada justificativa científica;</a:t>
            </a:r>
          </a:p>
          <a:p>
            <a:pPr lvl="1"/>
            <a:r>
              <a:rPr lang="pt-BR" sz="2000" b="1" dirty="0"/>
              <a:t>VIABILIDADE</a:t>
            </a:r>
            <a:r>
              <a:rPr lang="pt-BR" sz="2000" dirty="0"/>
              <a:t>: Quais são as possibilidades de se realizar esta pesquisa? Este aspecto está relacionado às possibilidades materiais da pesquisa: fontes de consulta disponíveis, etc.;</a:t>
            </a:r>
          </a:p>
          <a:p>
            <a:pPr lvl="1"/>
            <a:r>
              <a:rPr lang="pt-BR" sz="2000" b="1" dirty="0"/>
              <a:t>OPORTUNIDADE</a:t>
            </a:r>
            <a:r>
              <a:rPr lang="pt-BR" sz="2000" dirty="0"/>
              <a:t>: Por que esta pesquisa é oportuna neste momento? Ela está de acordo com os interesses da atualidade? Aqui se concentra a chamada justificativa social-científica, que demonstra contribuição de seu conhecimento para a sociedade.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95EC42-EE50-4895-9B8B-99E453A27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2579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141F8-3D07-4133-A7A8-4DCDF5AD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AE650-4F18-4772-8B02-FF12C721B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Portanto, podem ser justificativas de ordem:</a:t>
            </a:r>
          </a:p>
          <a:p>
            <a:pPr lvl="1"/>
            <a:r>
              <a:rPr lang="pt-BR" sz="2400" b="1" dirty="0"/>
              <a:t>PESSOAL</a:t>
            </a:r>
            <a:r>
              <a:rPr lang="pt-BR" sz="2400" dirty="0"/>
              <a:t>: relacionadas aos interesses dos pesquisadores, experiência ou possibilidade de atuação na área selecionada, etc.;</a:t>
            </a:r>
          </a:p>
          <a:p>
            <a:pPr lvl="1"/>
            <a:r>
              <a:rPr lang="pt-BR" sz="2400" b="1" dirty="0"/>
              <a:t>TÉCNICA</a:t>
            </a:r>
            <a:r>
              <a:rPr lang="pt-BR" sz="2400" dirty="0"/>
              <a:t>: acesso aos materiais e fontes de pesquisa, como livros, estatísticas, informações sobre uma empresa, etc.;</a:t>
            </a:r>
          </a:p>
          <a:p>
            <a:pPr lvl="1"/>
            <a:r>
              <a:rPr lang="pt-BR" sz="2400" b="1" dirty="0"/>
              <a:t>CIENTÍFICA</a:t>
            </a:r>
            <a:r>
              <a:rPr lang="pt-BR" sz="2400" dirty="0"/>
              <a:t>: contribuição para a área do conhecimento, por ser um tema novo ou já existente e não satisfatoriamente respondido na área acadêmica, com espaço para novos debates.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95EC42-EE50-4895-9B8B-99E453A27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01279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18084-B0D5-4AA1-89AB-577167C2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BE99E7-FA03-426F-8EC5-438D753C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5049312"/>
          </a:xfrm>
        </p:spPr>
        <p:txBody>
          <a:bodyPr/>
          <a:lstStyle/>
          <a:p>
            <a:r>
              <a:rPr lang="pt-BR" sz="2800" dirty="0"/>
              <a:t>Pode ser dividido em duas grandes partes:</a:t>
            </a:r>
          </a:p>
          <a:p>
            <a:pPr lvl="1"/>
            <a:r>
              <a:rPr lang="pt-BR" sz="2400" dirty="0"/>
              <a:t>Fundamentação teórica;</a:t>
            </a:r>
          </a:p>
          <a:p>
            <a:pPr lvl="1"/>
            <a:r>
              <a:rPr lang="pt-BR" sz="2400" dirty="0"/>
              <a:t>Trabalhos correlatos.</a:t>
            </a:r>
          </a:p>
          <a:p>
            <a:r>
              <a:rPr lang="pt-BR" sz="2800" dirty="0"/>
              <a:t>Expor resumidamente as principais ideias já discutidas por outros autores que trataram do problema, levantando críticas e dúvidas, quando for o caso;</a:t>
            </a:r>
          </a:p>
          <a:p>
            <a:r>
              <a:rPr lang="pt-BR" sz="2800" dirty="0"/>
              <a:t>Explicar no que seu trabalho vai se diferenciar dos trabalhos já produzidos sobre o problema a ser trabalhado e/ou no que vai contribuir para seu conhecimento.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69B5FE-6F3E-41E5-85D6-9132E4C54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01986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178F1-D465-4F57-B82F-5D79E712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3DFEBD-E374-41F8-9FC3-0CDFD1B9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905296"/>
          </a:xfrm>
        </p:spPr>
        <p:txBody>
          <a:bodyPr/>
          <a:lstStyle/>
          <a:p>
            <a:r>
              <a:rPr lang="pt-BR" sz="2500" dirty="0"/>
              <a:t>Esclarecer se a pesquisa é de natureza básica ou aplicada e, quanto aos objetivos, se é exploratória, descritiva ou explicativa;</a:t>
            </a:r>
          </a:p>
          <a:p>
            <a:r>
              <a:rPr lang="pt-BR" sz="2500" dirty="0"/>
              <a:t>Indicar o procedimento a ser adotado: pesquisa experimental, levantamento, estudo de caso, pesquisa bibliográfica, ou outro;</a:t>
            </a:r>
          </a:p>
          <a:p>
            <a:r>
              <a:rPr lang="pt-BR" sz="2500" dirty="0"/>
              <a:t>Definir o universo de estudo e os critérios de inclusão e exclusão do processo de amostragem;</a:t>
            </a:r>
          </a:p>
          <a:p>
            <a:r>
              <a:rPr lang="pt-BR" sz="2500" dirty="0"/>
              <a:t>Descrever a metodologia de análise de dados e as ferramentas utilizadas para tal fim.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90ED6-4679-4A93-AAE0-A92A15211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8556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178F1-D465-4F57-B82F-5D79E712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- Coleta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3DFEBD-E374-41F8-9FC3-0CDFD1B9C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A </a:t>
            </a:r>
            <a:r>
              <a:rPr lang="pt-BR" sz="2500" b="1" dirty="0"/>
              <a:t>coleta de dados </a:t>
            </a:r>
            <a:r>
              <a:rPr lang="pt-BR" sz="2500" dirty="0"/>
              <a:t>é a busca por informações para a elucidação do fenômeno ou fato que o pesquisador quer desvendar;</a:t>
            </a:r>
          </a:p>
          <a:p>
            <a:r>
              <a:rPr lang="pt-BR" sz="2500" dirty="0"/>
              <a:t>Descrever as técnicas utilizadas para a coleta de dados e os instrumentos utilizados (de acordo com o tipo de técnica escolhida) a serem apresentados em anexo, se necessário;</a:t>
            </a:r>
          </a:p>
          <a:p>
            <a:r>
              <a:rPr lang="pt-BR" sz="2500" dirty="0"/>
              <a:t>O instrumental técnico elaborado pelo pesquisador para o registro e a medição dos dados deverá preencher os seguintes requisitos: validez, confiabilidade e precisão.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90ED6-4679-4A93-AAE0-A92A15211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93486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178F1-D465-4F57-B82F-5D79E712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pt-BR" dirty="0"/>
              <a:t>Metodologia - Plano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3DFEBD-E374-41F8-9FC3-0CDFD1B9C16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196752"/>
            <a:ext cx="4038600" cy="493417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300" dirty="0"/>
              <a:t>O </a:t>
            </a:r>
            <a:r>
              <a:rPr lang="pt-BR" sz="2300" b="1" dirty="0"/>
              <a:t>plano amostral </a:t>
            </a:r>
            <a:r>
              <a:rPr lang="pt-BR" sz="2300" dirty="0"/>
              <a:t>consiste num conjunto de etapas que permite a definição clara dos seguintes elementos referentes à amostra:</a:t>
            </a:r>
          </a:p>
          <a:p>
            <a:pPr>
              <a:lnSpc>
                <a:spcPct val="90000"/>
              </a:lnSpc>
            </a:pPr>
            <a:endParaRPr lang="pt-BR" sz="1400" dirty="0"/>
          </a:p>
          <a:p>
            <a:pPr lvl="1">
              <a:lnSpc>
                <a:spcPct val="90000"/>
              </a:lnSpc>
            </a:pPr>
            <a:r>
              <a:rPr lang="pt-BR" sz="2300" u="sng" dirty="0"/>
              <a:t>População</a:t>
            </a:r>
            <a:r>
              <a:rPr lang="pt-BR" sz="2300" dirty="0"/>
              <a:t>: qual é o público alvo do qual será extraído uma amostra;</a:t>
            </a:r>
          </a:p>
          <a:p>
            <a:pPr lvl="1">
              <a:lnSpc>
                <a:spcPct val="90000"/>
              </a:lnSpc>
            </a:pPr>
            <a:r>
              <a:rPr lang="pt-BR" sz="2300" u="sng" dirty="0"/>
              <a:t>Universo</a:t>
            </a:r>
            <a:r>
              <a:rPr lang="pt-BR" sz="2300" dirty="0"/>
              <a:t>: o conjunto de todos os elementos amostrais da população.</a:t>
            </a:r>
          </a:p>
        </p:txBody>
      </p:sp>
      <p:pic>
        <p:nvPicPr>
          <p:cNvPr id="1026" name="Picture 2" descr="Amostragem sistemática fácil, simples e barata para você aplicar">
            <a:extLst>
              <a:ext uri="{FF2B5EF4-FFF2-40B4-BE49-F238E27FC236}">
                <a16:creationId xmlns:a16="http://schemas.microsoft.com/office/drawing/2014/main" id="{000264B7-2D8A-4D64-892B-A58791A6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1628800"/>
            <a:ext cx="4038600" cy="40386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90ED6-4679-4A93-AAE0-A92A15211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6800" y="-151603"/>
            <a:ext cx="4572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3D6463F1-92E5-4BBD-8C10-2E2126A38AAB}" type="slidenum">
              <a:rPr lang="pt-BR" altLang="en-US" smtClean="0"/>
              <a:pPr>
                <a:spcAft>
                  <a:spcPts val="600"/>
                </a:spcAft>
                <a:defRPr/>
              </a:pPr>
              <a:t>20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6864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30D35-48C4-4CB1-ABB4-67A9E96F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- Plano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E39721-5F5F-4B48-B8B9-814A7B7F9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Itens componentes:</a:t>
            </a:r>
          </a:p>
          <a:p>
            <a:pPr lvl="1"/>
            <a:r>
              <a:rPr lang="pt-BR" b="1" dirty="0"/>
              <a:t>Extensão geográfica</a:t>
            </a:r>
            <a:r>
              <a:rPr lang="pt-BR" dirty="0"/>
              <a:t>: área geográfica onde será realizada a pesquisa;</a:t>
            </a:r>
          </a:p>
          <a:p>
            <a:pPr lvl="1"/>
            <a:r>
              <a:rPr lang="pt-BR" b="1" dirty="0"/>
              <a:t>Tempo</a:t>
            </a:r>
            <a:r>
              <a:rPr lang="pt-BR" dirty="0"/>
              <a:t>: dia, semana, mês e ano do levantamento;</a:t>
            </a:r>
          </a:p>
          <a:p>
            <a:pPr lvl="1"/>
            <a:r>
              <a:rPr lang="pt-BR" b="1" dirty="0"/>
              <a:t>Sistema de referências</a:t>
            </a:r>
            <a:r>
              <a:rPr lang="pt-BR" dirty="0"/>
              <a:t>: é o cadastro onde se encontram todos os elementos da população, de onde se extrairá uma amostra de tamanho definido.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C7B35C-7DF0-4270-9F6C-7D694D808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15977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73E18-58A9-4B34-B2D9-81C8C4B5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- Plano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1A376-F98E-4C34-B9B9-B2BB433A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Tamanho da amostra:</a:t>
            </a:r>
          </a:p>
          <a:p>
            <a:pPr lvl="1"/>
            <a:r>
              <a:rPr lang="pt-BR" dirty="0"/>
              <a:t>Na </a:t>
            </a:r>
            <a:r>
              <a:rPr lang="pt-BR" b="1" dirty="0"/>
              <a:t>seleção probabilística </a:t>
            </a:r>
            <a:r>
              <a:rPr lang="pt-BR" dirty="0"/>
              <a:t>é necessária a aplicação de fórmulas que consideram o erro amostral desejado, o grau de confiança e/ou universo considerado;</a:t>
            </a:r>
          </a:p>
          <a:p>
            <a:pPr lvl="1"/>
            <a:r>
              <a:rPr lang="pt-BR" dirty="0"/>
              <a:t>Na </a:t>
            </a:r>
            <a:r>
              <a:rPr lang="pt-BR" b="1" dirty="0"/>
              <a:t>seleção não probabilística </a:t>
            </a:r>
            <a:r>
              <a:rPr lang="pt-BR" dirty="0"/>
              <a:t>fica a critério do pesquisador definir o tamanho da amostra de acordo com as especificações e restrições de seu projeto.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C5F844-3795-4879-99C7-2A6FB8316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51255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98453-3F44-478F-8F0F-261EFA5B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B1A22B-B3C2-46BF-A327-11CE91AD2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cronograma de pesquisa </a:t>
            </a:r>
            <a:r>
              <a:rPr lang="pt-BR" dirty="0"/>
              <a:t>consiste na elaboração de um conjunto de passos com suas respectivas datas de execução, que permitam chegar à resposta do problema de pesquisa.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5F577-2329-4887-869C-5C10902D4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93365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98453-3F44-478F-8F0F-261EFA5B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- Dicas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B1A22B-B3C2-46BF-A327-11CE91AD2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Dicas de como fazer o cronograma do seu TCC:</a:t>
            </a:r>
          </a:p>
          <a:p>
            <a:pPr lvl="1"/>
            <a:r>
              <a:rPr lang="pt-BR" dirty="0"/>
              <a:t>Faça uma lista de todos as atividades;</a:t>
            </a:r>
          </a:p>
          <a:p>
            <a:pPr lvl="1"/>
            <a:r>
              <a:rPr lang="pt-BR" dirty="0"/>
              <a:t>Divida as tarefas no maior número possível;</a:t>
            </a:r>
          </a:p>
          <a:p>
            <a:pPr lvl="1"/>
            <a:r>
              <a:rPr lang="pt-BR" dirty="0"/>
              <a:t>Distribua as tarefas ao longo do tempo;</a:t>
            </a:r>
          </a:p>
          <a:p>
            <a:pPr lvl="1"/>
            <a:r>
              <a:rPr lang="pt-BR" dirty="0"/>
              <a:t>Evite prazos muito longos;</a:t>
            </a:r>
          </a:p>
          <a:p>
            <a:pPr lvl="1"/>
            <a:r>
              <a:rPr lang="pt-BR" dirty="0"/>
              <a:t>Não esqueça do tempo de revisão do orientador;</a:t>
            </a:r>
          </a:p>
          <a:p>
            <a:pPr lvl="1"/>
            <a:r>
              <a:rPr lang="pt-BR" dirty="0"/>
              <a:t>Confira os prazos da escola;</a:t>
            </a:r>
          </a:p>
          <a:p>
            <a:pPr lvl="1"/>
            <a:r>
              <a:rPr lang="pt-BR" dirty="0"/>
              <a:t>Converse periodicamente com seu orientador.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5F577-2329-4887-869C-5C10902D4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2244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98453-3F44-478F-8F0F-261EFA5B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- Exemplo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08591560-5C17-4386-90BA-9E3248E38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199057"/>
              </p:ext>
            </p:extLst>
          </p:nvPr>
        </p:nvGraphicFramePr>
        <p:xfrm>
          <a:off x="457200" y="1187450"/>
          <a:ext cx="8229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872">
                  <a:extLst>
                    <a:ext uri="{9D8B030D-6E8A-4147-A177-3AD203B41FA5}">
                      <a16:colId xmlns:a16="http://schemas.microsoft.com/office/drawing/2014/main" val="69800076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16288958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9783208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976680871"/>
                    </a:ext>
                  </a:extLst>
                </a:gridCol>
                <a:gridCol w="874440">
                  <a:extLst>
                    <a:ext uri="{9D8B030D-6E8A-4147-A177-3AD203B41FA5}">
                      <a16:colId xmlns:a16="http://schemas.microsoft.com/office/drawing/2014/main" val="1308728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Tarefas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4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Escolha do tema de pesquisa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919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Reunião com 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9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Definição do título, hipóteses e objetivos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1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Reunião com 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80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Levantamento do referencial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7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Definições da metodologia e coleta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0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Coletas e tabulação dos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92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Redação do projeto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451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Reunião com 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Banca de defesa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77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Revisão final do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90087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5F577-2329-4887-869C-5C10902D4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221522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74E59-0E1F-42BF-BAFE-CC770E5B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Esperados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B6F15F-675E-4901-8D52-471E1D02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833288"/>
          </a:xfrm>
        </p:spPr>
        <p:txBody>
          <a:bodyPr/>
          <a:lstStyle/>
          <a:p>
            <a:r>
              <a:rPr lang="pt-BR" dirty="0"/>
              <a:t>“Em geral, os </a:t>
            </a:r>
            <a:r>
              <a:rPr lang="pt-BR" b="1" dirty="0"/>
              <a:t>resultados esperados </a:t>
            </a:r>
            <a:r>
              <a:rPr lang="pt-BR" dirty="0"/>
              <a:t>são situações que o autor de um trabalho espera que ocorram caso seus objetivos sejam atingidos.”;</a:t>
            </a:r>
          </a:p>
          <a:p>
            <a:r>
              <a:rPr lang="pt-BR" dirty="0"/>
              <a:t>“Ao contrário dos objetivos, os resultados esperados normalmente não são obtidos durante o trabalho, eles são posteriores. ”;</a:t>
            </a:r>
          </a:p>
          <a:p>
            <a:r>
              <a:rPr lang="pt-BR" dirty="0"/>
              <a:t>Os resultados esperados normalmente contribuem para a compreensão ou resolução do problema de pesquisa.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DE12BD-A084-4354-B493-891D9C17A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545038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B7181-B52A-41BF-9424-6724AFDB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76EE4D-D54A-415D-812F-9528F4C46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Comentar sobre como o desenvolvimento apresentado ajudou a chegar a cada um dos objetivos específicos, ou seja, como o trabalho de pesquisa permitiu concluir que cada um dos objetivos foi atingido;</a:t>
            </a:r>
          </a:p>
          <a:p>
            <a:r>
              <a:rPr lang="pt-BR" dirty="0"/>
              <a:t>Apresentar os pontos positivos e negativos da pesquisa;</a:t>
            </a:r>
          </a:p>
          <a:p>
            <a:r>
              <a:rPr lang="pt-BR" dirty="0"/>
              <a:t>Lições aprendidas.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FA3614-310B-4732-B94B-2F08D51EC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27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6153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143DC-2684-474F-AB7F-FD56C9EA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(ou Bibliografia)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73417-1E7D-4D51-A488-EA734C421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Conjunto de elementos que identificam as obras utilizadas e citadas na elaboração do trabalho (no corpo do texto, nas fontes de ilustrações, tabelas ou em notas de rodapé);</a:t>
            </a:r>
          </a:p>
          <a:p>
            <a:r>
              <a:rPr lang="pt-BR" sz="2500" dirty="0"/>
              <a:t>Devem ser apresentadas no padrão ABNT, em uma única ordem alfabética, independentemente do suporte físico, e alinhadas somente à esquerda, em espaço simples, e espaço simples entre elas;</a:t>
            </a:r>
          </a:p>
          <a:p>
            <a:r>
              <a:rPr lang="pt-BR" sz="2500" dirty="0"/>
              <a:t>Podem ser livros, periódicos, artigos, monografias, dissertações, publicações eletrônicas (sites), leis, decretos, materiais audiovisuais, entrevistas, etc. </a:t>
            </a:r>
          </a:p>
          <a:p>
            <a:endParaRPr lang="pt-BR" sz="25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53986C-1B7A-4805-B33D-70A7280A3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31363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C3ED7-2E64-49D4-878A-D51B2C6E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DBFA2-ACA6-4A17-8758-F9F667286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507288" cy="4833288"/>
          </a:xfrm>
        </p:spPr>
        <p:txBody>
          <a:bodyPr/>
          <a:lstStyle/>
          <a:p>
            <a:pPr marL="0" indent="0" algn="l">
              <a:buNone/>
            </a:pPr>
            <a:r>
              <a:rPr lang="pt-BR" sz="2000" b="0" i="0" u="none" strike="noStrike" baseline="0" dirty="0">
                <a:latin typeface="ArialMT"/>
              </a:rPr>
              <a:t>LANDAU, L.; CUNHA, G. G.; HANGUENAUER, C. (org.). </a:t>
            </a:r>
            <a:r>
              <a:rPr lang="pt-BR" sz="2000" b="1" i="0" u="none" strike="noStrike" baseline="0" dirty="0">
                <a:latin typeface="Arial-BoldMT"/>
              </a:rPr>
              <a:t>Pesquisa em realidade virtual e aumentada</a:t>
            </a:r>
            <a:r>
              <a:rPr lang="pt-BR" sz="2000" b="0" i="0" u="none" strike="noStrike" baseline="0" dirty="0">
                <a:latin typeface="ArialMT"/>
              </a:rPr>
              <a:t>. 1. ed. Curitiba: Editora CRV, 2014. 164p.</a:t>
            </a: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endParaRPr lang="pt-BR" sz="2000" dirty="0">
              <a:latin typeface="ArialMT"/>
            </a:endParaRP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r>
              <a:rPr lang="pt-BR" sz="2000" dirty="0">
                <a:latin typeface="ArialMT"/>
              </a:rPr>
              <a:t>O</a:t>
            </a:r>
            <a:r>
              <a:rPr lang="pt-BR" sz="2000" b="0" i="0" u="none" strike="noStrike" baseline="0" dirty="0">
                <a:latin typeface="ArialMT"/>
              </a:rPr>
              <a:t>MS - Organização Mundial da Saúde. </a:t>
            </a:r>
            <a:r>
              <a:rPr lang="pt-BR" sz="2000" b="1" i="0" u="none" strike="noStrike" baseline="0" dirty="0">
                <a:latin typeface="Arial-BoldMT"/>
              </a:rPr>
              <a:t>Mulheres e saúde</a:t>
            </a:r>
            <a:r>
              <a:rPr lang="pt-BR" sz="2000" b="0" i="0" u="none" strike="noStrike" baseline="0" dirty="0">
                <a:latin typeface="ArialMT"/>
              </a:rPr>
              <a:t>: evidências de hoje: agenda de amanhã. Geneva: OMS, 2009. 92 p. </a:t>
            </a:r>
            <a:r>
              <a:rPr lang="pt-BR" sz="2000" b="0" i="0" u="none" strike="noStrike" baseline="0" dirty="0">
                <a:solidFill>
                  <a:srgbClr val="FF0000"/>
                </a:solidFill>
                <a:latin typeface="ArialMT"/>
              </a:rPr>
              <a:t>Disponível em: https://www.who.int/eportuguese/</a:t>
            </a:r>
            <a:r>
              <a:rPr lang="pt-BR" sz="2000" b="0" i="0" u="none" strike="noStrike" baseline="0" dirty="0" err="1">
                <a:solidFill>
                  <a:srgbClr val="FF0000"/>
                </a:solidFill>
                <a:latin typeface="ArialMT"/>
              </a:rPr>
              <a:t>publications</a:t>
            </a:r>
            <a:r>
              <a:rPr lang="pt-BR" sz="2000" b="0" i="0" u="none" strike="noStrike" baseline="0" dirty="0">
                <a:solidFill>
                  <a:srgbClr val="FF0000"/>
                </a:solidFill>
                <a:latin typeface="ArialMT"/>
              </a:rPr>
              <a:t>/Mulheres_Saude.pdf. Acesso em: 8 jan. 2019.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E82C1-4A3F-4FEA-AE71-FC0112C6F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29</a:t>
            </a:fld>
            <a:endParaRPr lang="pt-BR" altLang="en-US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F5763C63-3C03-4007-9DC6-81AF0D51B465}"/>
              </a:ext>
            </a:extLst>
          </p:cNvPr>
          <p:cNvSpPr/>
          <p:nvPr/>
        </p:nvSpPr>
        <p:spPr bwMode="auto">
          <a:xfrm rot="19853586">
            <a:off x="6786103" y="1234771"/>
            <a:ext cx="2093529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Site de internet</a:t>
            </a: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51DB9CEB-D1CA-4638-9EEF-27A370979AD4}"/>
              </a:ext>
            </a:extLst>
          </p:cNvPr>
          <p:cNvSpPr/>
          <p:nvPr/>
        </p:nvSpPr>
        <p:spPr bwMode="auto">
          <a:xfrm rot="19853586">
            <a:off x="5981260" y="224488"/>
            <a:ext cx="2093529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Livro impresso</a:t>
            </a:r>
          </a:p>
        </p:txBody>
      </p:sp>
    </p:spTree>
    <p:extLst>
      <p:ext uri="{BB962C8B-B14F-4D97-AF65-F5344CB8AC3E}">
        <p14:creationId xmlns:p14="http://schemas.microsoft.com/office/powerpoint/2010/main" val="3371289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77BFD-CAD5-46AC-A483-BF2F40A3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pt-BR" dirty="0"/>
              <a:t>Projeto de Pesquisa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78ED79D-EE52-4876-8F68-B6528F157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" t="5069" r="9392" b="13983"/>
          <a:stretch/>
        </p:blipFill>
        <p:spPr bwMode="auto">
          <a:xfrm>
            <a:off x="1115616" y="1052736"/>
            <a:ext cx="7104312" cy="4824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058256-A264-45EF-A1F3-5C366499E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6800" y="-151603"/>
            <a:ext cx="4572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3D6463F1-92E5-4BBD-8C10-2E2126A38AAB}" type="slidenum">
              <a:rPr lang="pt-BR" altLang="en-US" smtClean="0"/>
              <a:pPr>
                <a:spcAft>
                  <a:spcPts val="600"/>
                </a:spcAft>
                <a:defRPr/>
              </a:pPr>
              <a:t>30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81893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A8257-E808-4C8B-A916-8125807B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Apêndice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F3130-BB49-476C-B8F5-496B4C123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833288"/>
          </a:xfrm>
        </p:spPr>
        <p:txBody>
          <a:bodyPr/>
          <a:lstStyle/>
          <a:p>
            <a:r>
              <a:rPr lang="pt-BR" dirty="0"/>
              <a:t>Textos ou documentos elaborados pelo autor, que servem como comprovação de sua argumentação (questionário aplicado, roteiro de entrevista, tabelas, figuras, etc.);</a:t>
            </a:r>
          </a:p>
          <a:p>
            <a:r>
              <a:rPr lang="pt-BR" dirty="0"/>
              <a:t>Exemplos: </a:t>
            </a:r>
          </a:p>
          <a:p>
            <a:pPr lvl="1"/>
            <a:r>
              <a:rPr lang="pt-BR" dirty="0"/>
              <a:t>APÊNDICE A – Questionário aplicado aos colaboradores.</a:t>
            </a:r>
          </a:p>
          <a:p>
            <a:pPr lvl="1"/>
            <a:r>
              <a:rPr lang="pt-BR" dirty="0"/>
              <a:t>APÊNDICE B –  Telas do aplicativo.</a:t>
            </a:r>
          </a:p>
          <a:p>
            <a:r>
              <a:rPr lang="pt-BR" dirty="0"/>
              <a:t>A formatação dos apêndices é livre.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CDA2FC-61C4-403C-9927-3B9DC53AA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67048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3BE12-3195-4A25-A54E-D1B012F4A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Anexos (opcional)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E743A-11D3-422E-8516-9EDB322B3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Textos ou documentos </a:t>
            </a:r>
            <a:r>
              <a:rPr lang="pt-BR" b="1" dirty="0"/>
              <a:t>NÃO</a:t>
            </a:r>
            <a:r>
              <a:rPr lang="pt-BR" dirty="0"/>
              <a:t> elaborados pelo autor, que servem como comprovação de sua argumentação (mapas, folders, relatórios da empresa, leis, etc.);</a:t>
            </a:r>
          </a:p>
          <a:p>
            <a:r>
              <a:rPr lang="pt-BR" dirty="0"/>
              <a:t>Exemplos: </a:t>
            </a:r>
          </a:p>
          <a:p>
            <a:pPr lvl="1"/>
            <a:r>
              <a:rPr lang="pt-BR" dirty="0"/>
              <a:t>ANEXO A – Mapa da região.</a:t>
            </a:r>
          </a:p>
          <a:p>
            <a:pPr lvl="1"/>
            <a:r>
              <a:rPr lang="pt-BR" dirty="0"/>
              <a:t>ANEXO B – Fotos dos equipamentos. </a:t>
            </a:r>
          </a:p>
          <a:p>
            <a:r>
              <a:rPr lang="pt-BR" dirty="0"/>
              <a:t>A formatação dos ANEXOS é livre.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4F2E86-CFB9-4528-9B2F-B27936D5E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48142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0F4C-B937-4B19-9940-399412EB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7ADBB-872D-46C5-8C18-C96F6B682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WAZLAWICK, Raul Sidnei. </a:t>
            </a:r>
            <a:r>
              <a:rPr lang="pt-BR" sz="2000" b="1" dirty="0"/>
              <a:t>Metodologia de pesquisa para ciência da computação</a:t>
            </a:r>
            <a:r>
              <a:rPr lang="pt-BR" sz="2000" dirty="0"/>
              <a:t>. Elsevier, 3ª ed., 2020.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59DF7-CA8C-494F-A00E-40041E399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46336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E26C0-4FE7-4690-9FDD-DF205C58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40C9A8-39FA-445D-9AE0-5D2C6662F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1973"/>
          </a:xfrm>
        </p:spPr>
        <p:txBody>
          <a:bodyPr/>
          <a:lstStyle/>
          <a:p>
            <a:r>
              <a:rPr lang="pt-BR" sz="2800" dirty="0"/>
              <a:t>Em cima do problema de pesquisa proposto por você na aula anterior, responda às perguntas abaixo:</a:t>
            </a:r>
          </a:p>
          <a:p>
            <a:pPr lvl="1"/>
            <a:r>
              <a:rPr lang="pt-BR" sz="2400" dirty="0"/>
              <a:t>O que coletar:</a:t>
            </a:r>
          </a:p>
          <a:p>
            <a:pPr lvl="2"/>
            <a:r>
              <a:rPr lang="pt-BR" sz="2000" dirty="0"/>
              <a:t>Que informações serão necessárias para testar as hipóteses?</a:t>
            </a:r>
          </a:p>
          <a:p>
            <a:pPr lvl="1"/>
            <a:r>
              <a:rPr lang="pt-BR" sz="2400" dirty="0"/>
              <a:t>Com quem coletar:</a:t>
            </a:r>
          </a:p>
          <a:p>
            <a:pPr lvl="2"/>
            <a:r>
              <a:rPr lang="pt-BR" sz="2000" dirty="0"/>
              <a:t>Indivíduos, empresas, órgãos públicos, etc.?</a:t>
            </a:r>
          </a:p>
          <a:p>
            <a:pPr lvl="1"/>
            <a:r>
              <a:rPr lang="pt-BR" sz="2400" dirty="0"/>
              <a:t>Delimitações da coleta:</a:t>
            </a:r>
          </a:p>
          <a:p>
            <a:pPr lvl="2"/>
            <a:r>
              <a:rPr lang="pt-BR" sz="2000" dirty="0"/>
              <a:t>Quantas coletas serão feitas?</a:t>
            </a:r>
          </a:p>
          <a:p>
            <a:pPr lvl="2"/>
            <a:r>
              <a:rPr lang="pt-BR" sz="2000" dirty="0"/>
              <a:t>Qual a área geográfica a ser considerada?</a:t>
            </a:r>
          </a:p>
          <a:p>
            <a:pPr lvl="2"/>
            <a:r>
              <a:rPr lang="pt-BR" sz="2000" dirty="0"/>
              <a:t>Qual o período de tempo será levado em conta?</a:t>
            </a:r>
          </a:p>
          <a:p>
            <a:pPr lvl="1"/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9934A6-4F89-4D9C-8EF7-2506BFA47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7243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DDA1C1-5FDC-1C72-5079-3EE7363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01008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4501</TotalTime>
  <Words>2635</Words>
  <Application>Microsoft Office PowerPoint</Application>
  <PresentationFormat>Apresentação na tela (4:3)</PresentationFormat>
  <Paragraphs>265</Paragraphs>
  <Slides>35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35</vt:i4>
      </vt:variant>
    </vt:vector>
  </HeadingPairs>
  <TitlesOfParts>
    <vt:vector size="45" baseType="lpstr">
      <vt:lpstr>Arial</vt:lpstr>
      <vt:lpstr>Arial-BoldMT</vt:lpstr>
      <vt:lpstr>ArialMT</vt:lpstr>
      <vt:lpstr>Calibri</vt:lpstr>
      <vt:lpstr>Calibri Light</vt:lpstr>
      <vt:lpstr>Garamond</vt:lpstr>
      <vt:lpstr>Times New Roman</vt:lpstr>
      <vt:lpstr>Wingdings</vt:lpstr>
      <vt:lpstr>Borda</vt:lpstr>
      <vt:lpstr>Personalizar design</vt:lpstr>
      <vt:lpstr>  Trabalho de Conclusão de Curso I – TCC1</vt:lpstr>
      <vt:lpstr>Aula 3</vt:lpstr>
      <vt:lpstr>Título</vt:lpstr>
      <vt:lpstr>Introdução</vt:lpstr>
      <vt:lpstr>Problematização/hipóteses (opcional)</vt:lpstr>
      <vt:lpstr>Objetivo Geral</vt:lpstr>
      <vt:lpstr>Objetivos Específicos</vt:lpstr>
      <vt:lpstr>Objetivos</vt:lpstr>
      <vt:lpstr>Objetivos – Exemplo 1</vt:lpstr>
      <vt:lpstr>Objetivos – Exemplo 2</vt:lpstr>
      <vt:lpstr>Objetivos – Exemplo 3</vt:lpstr>
      <vt:lpstr>Objetivos – Exemplo 3</vt:lpstr>
      <vt:lpstr>Objetivos – Exemplo 3</vt:lpstr>
      <vt:lpstr>Justificativa</vt:lpstr>
      <vt:lpstr>Justificativa</vt:lpstr>
      <vt:lpstr>Justificativa</vt:lpstr>
      <vt:lpstr>Referencial Teórico</vt:lpstr>
      <vt:lpstr>Metodologia</vt:lpstr>
      <vt:lpstr>Metodologia - Coleta de Dados</vt:lpstr>
      <vt:lpstr>Metodologia - Plano Amostral</vt:lpstr>
      <vt:lpstr>Metodologia - Plano Amostral</vt:lpstr>
      <vt:lpstr>Metodologia - Plano Amostral</vt:lpstr>
      <vt:lpstr>Cronograma (opcional)</vt:lpstr>
      <vt:lpstr>Cronograma - Dicas</vt:lpstr>
      <vt:lpstr>Cronograma - Exemplo</vt:lpstr>
      <vt:lpstr>Resultados Esperados (opcional)</vt:lpstr>
      <vt:lpstr>Conclusão (opcional)</vt:lpstr>
      <vt:lpstr>Referências (ou Bibliografia)</vt:lpstr>
      <vt:lpstr>Referências - Exemplos</vt:lpstr>
      <vt:lpstr>Projeto de Pesquisa</vt:lpstr>
      <vt:lpstr>Apêndice (opcional)</vt:lpstr>
      <vt:lpstr>Anexos (opcional)</vt:lpstr>
      <vt:lpstr>Referências</vt:lpstr>
      <vt:lpstr>Exercício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 de Dados I</dc:title>
  <dc:creator>Ricardo Luiz Freitas</dc:creator>
  <cp:lastModifiedBy>Ricardo Luiz de Freitas</cp:lastModifiedBy>
  <cp:revision>56</cp:revision>
  <dcterms:created xsi:type="dcterms:W3CDTF">2020-08-07T15:17:51Z</dcterms:created>
  <dcterms:modified xsi:type="dcterms:W3CDTF">2024-03-05T21:19:55Z</dcterms:modified>
</cp:coreProperties>
</file>