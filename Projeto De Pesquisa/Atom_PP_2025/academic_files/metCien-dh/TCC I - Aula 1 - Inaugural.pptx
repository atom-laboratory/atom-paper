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20"/>
  </p:notesMasterIdLst>
  <p:handoutMasterIdLst>
    <p:handoutMasterId r:id="rId21"/>
  </p:handoutMasterIdLst>
  <p:sldIdLst>
    <p:sldId id="256" r:id="rId2"/>
    <p:sldId id="1118" r:id="rId3"/>
    <p:sldId id="1142" r:id="rId4"/>
    <p:sldId id="1143" r:id="rId5"/>
    <p:sldId id="1116" r:id="rId6"/>
    <p:sldId id="1137" r:id="rId7"/>
    <p:sldId id="1138" r:id="rId8"/>
    <p:sldId id="1117" r:id="rId9"/>
    <p:sldId id="1139" r:id="rId10"/>
    <p:sldId id="1131" r:id="rId11"/>
    <p:sldId id="1144" r:id="rId12"/>
    <p:sldId id="1146" r:id="rId13"/>
    <p:sldId id="1141" r:id="rId14"/>
    <p:sldId id="1122" r:id="rId15"/>
    <p:sldId id="1132" r:id="rId16"/>
    <p:sldId id="1134" r:id="rId17"/>
    <p:sldId id="1126" r:id="rId18"/>
    <p:sldId id="1110" r:id="rId1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0000FF"/>
    <a:srgbClr val="CC0000"/>
    <a:srgbClr val="6699FF"/>
    <a:srgbClr val="777777"/>
    <a:srgbClr val="FFFF6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 autoAdjust="0"/>
    <p:restoredTop sz="94709" autoAdjust="0"/>
  </p:normalViewPr>
  <p:slideViewPr>
    <p:cSldViewPr>
      <p:cViewPr varScale="1">
        <p:scale>
          <a:sx n="53" d="100"/>
          <a:sy n="53" d="100"/>
        </p:scale>
        <p:origin x="1890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Luiz Freitas" userId="122532effb8c3c75" providerId="LiveId" clId="{745CBC62-0388-4342-B0C6-B025FCEFAABE}"/>
    <pc:docChg chg="modSld">
      <pc:chgData name="Ricardo Luiz Freitas" userId="122532effb8c3c75" providerId="LiveId" clId="{745CBC62-0388-4342-B0C6-B025FCEFAABE}" dt="2023-03-16T16:49:53.134" v="0" actId="20577"/>
      <pc:docMkLst>
        <pc:docMk/>
      </pc:docMkLst>
      <pc:sldChg chg="modSp mod">
        <pc:chgData name="Ricardo Luiz Freitas" userId="122532effb8c3c75" providerId="LiveId" clId="{745CBC62-0388-4342-B0C6-B025FCEFAABE}" dt="2023-03-16T16:49:53.134" v="0" actId="20577"/>
        <pc:sldMkLst>
          <pc:docMk/>
          <pc:sldMk cId="503944883" sldId="1144"/>
        </pc:sldMkLst>
      </pc:sldChg>
    </pc:docChg>
  </pc:docChgLst>
  <pc:docChgLst>
    <pc:chgData name="Ricardo Luiz Freitas" userId="122532effb8c3c75" providerId="LiveId" clId="{C586C8B2-A644-428B-B6F1-3CEBFAFB60E8}"/>
    <pc:docChg chg="addSld delSld modSld">
      <pc:chgData name="Ricardo Luiz Freitas" userId="122532effb8c3c75" providerId="LiveId" clId="{C586C8B2-A644-428B-B6F1-3CEBFAFB60E8}" dt="2023-01-04T00:50:54.525" v="35"/>
      <pc:docMkLst>
        <pc:docMk/>
      </pc:docMkLst>
      <pc:sldChg chg="modSp mod">
        <pc:chgData name="Ricardo Luiz Freitas" userId="122532effb8c3c75" providerId="LiveId" clId="{C586C8B2-A644-428B-B6F1-3CEBFAFB60E8}" dt="2022-12-28T12:39:14.338" v="10" actId="20577"/>
        <pc:sldMkLst>
          <pc:docMk/>
          <pc:sldMk cId="0" sldId="1118"/>
        </pc:sldMkLst>
      </pc:sldChg>
      <pc:sldChg chg="modSp mod">
        <pc:chgData name="Ricardo Luiz Freitas" userId="122532effb8c3c75" providerId="LiveId" clId="{C586C8B2-A644-428B-B6F1-3CEBFAFB60E8}" dt="2022-12-28T18:23:29.855" v="21" actId="404"/>
        <pc:sldMkLst>
          <pc:docMk/>
          <pc:sldMk cId="0" sldId="1122"/>
        </pc:sldMkLst>
      </pc:sldChg>
      <pc:sldChg chg="modSp mod">
        <pc:chgData name="Ricardo Luiz Freitas" userId="122532effb8c3c75" providerId="LiveId" clId="{C586C8B2-A644-428B-B6F1-3CEBFAFB60E8}" dt="2022-12-28T18:23:35.628" v="22" actId="403"/>
        <pc:sldMkLst>
          <pc:docMk/>
          <pc:sldMk cId="2717374625" sldId="1132"/>
        </pc:sldMkLst>
      </pc:sldChg>
      <pc:sldChg chg="modSp add del mod">
        <pc:chgData name="Ricardo Luiz Freitas" userId="122532effb8c3c75" providerId="LiveId" clId="{C586C8B2-A644-428B-B6F1-3CEBFAFB60E8}" dt="2023-01-04T00:50:54.525" v="35"/>
        <pc:sldMkLst>
          <pc:docMk/>
          <pc:sldMk cId="2014289471" sldId="1134"/>
        </pc:sldMkLst>
      </pc:sldChg>
    </pc:docChg>
  </pc:docChgLst>
  <pc:docChgLst>
    <pc:chgData name="Ricardo Luiz Freitas" userId="122532effb8c3c75" providerId="LiveId" clId="{75154BF0-8E3E-46E2-BBE7-215340CFF924}"/>
    <pc:docChg chg="delSld modSld">
      <pc:chgData name="Ricardo Luiz Freitas" userId="122532effb8c3c75" providerId="LiveId" clId="{75154BF0-8E3E-46E2-BBE7-215340CFF924}" dt="2023-02-08T14:51:16.705" v="901" actId="2165"/>
      <pc:docMkLst>
        <pc:docMk/>
      </pc:docMkLst>
      <pc:sldChg chg="modSp modAnim">
        <pc:chgData name="Ricardo Luiz Freitas" userId="122532effb8c3c75" providerId="LiveId" clId="{75154BF0-8E3E-46E2-BBE7-215340CFF924}" dt="2023-02-07T19:23:42.640" v="467" actId="113"/>
        <pc:sldMkLst>
          <pc:docMk/>
          <pc:sldMk cId="0" sldId="1116"/>
        </pc:sldMkLst>
      </pc:sldChg>
      <pc:sldChg chg="modSp mod">
        <pc:chgData name="Ricardo Luiz Freitas" userId="122532effb8c3c75" providerId="LiveId" clId="{75154BF0-8E3E-46E2-BBE7-215340CFF924}" dt="2023-02-07T19:25:53.570" v="492" actId="115"/>
        <pc:sldMkLst>
          <pc:docMk/>
          <pc:sldMk cId="0" sldId="1117"/>
        </pc:sldMkLst>
      </pc:sldChg>
      <pc:sldChg chg="modSp mod">
        <pc:chgData name="Ricardo Luiz Freitas" userId="122532effb8c3c75" providerId="LiveId" clId="{75154BF0-8E3E-46E2-BBE7-215340CFF924}" dt="2023-02-03T20:47:04.803" v="147" actId="20577"/>
        <pc:sldMkLst>
          <pc:docMk/>
          <pc:sldMk cId="0" sldId="1122"/>
        </pc:sldMkLst>
      </pc:sldChg>
      <pc:sldChg chg="modSp mod">
        <pc:chgData name="Ricardo Luiz Freitas" userId="122532effb8c3c75" providerId="LiveId" clId="{75154BF0-8E3E-46E2-BBE7-215340CFF924}" dt="2023-02-07T19:29:30.094" v="651" actId="2165"/>
        <pc:sldMkLst>
          <pc:docMk/>
          <pc:sldMk cId="3665512721" sldId="1131"/>
        </pc:sldMkLst>
      </pc:sldChg>
      <pc:sldChg chg="modSp">
        <pc:chgData name="Ricardo Luiz Freitas" userId="122532effb8c3c75" providerId="LiveId" clId="{75154BF0-8E3E-46E2-BBE7-215340CFF924}" dt="2023-02-07T19:37:37.879" v="809" actId="20577"/>
        <pc:sldMkLst>
          <pc:docMk/>
          <pc:sldMk cId="366803076" sldId="1137"/>
        </pc:sldMkLst>
      </pc:sldChg>
      <pc:sldChg chg="modSp mod modAnim">
        <pc:chgData name="Ricardo Luiz Freitas" userId="122532effb8c3c75" providerId="LiveId" clId="{75154BF0-8E3E-46E2-BBE7-215340CFF924}" dt="2023-02-07T19:22:14.540" v="356"/>
        <pc:sldMkLst>
          <pc:docMk/>
          <pc:sldMk cId="1236014922" sldId="1138"/>
        </pc:sldMkLst>
      </pc:sldChg>
      <pc:sldChg chg="modSp mod">
        <pc:chgData name="Ricardo Luiz Freitas" userId="122532effb8c3c75" providerId="LiveId" clId="{75154BF0-8E3E-46E2-BBE7-215340CFF924}" dt="2023-02-07T19:28:50.824" v="647" actId="115"/>
        <pc:sldMkLst>
          <pc:docMk/>
          <pc:sldMk cId="3174579880" sldId="1139"/>
        </pc:sldMkLst>
      </pc:sldChg>
      <pc:sldChg chg="del">
        <pc:chgData name="Ricardo Luiz Freitas" userId="122532effb8c3c75" providerId="LiveId" clId="{75154BF0-8E3E-46E2-BBE7-215340CFF924}" dt="2023-02-07T19:29:08.087" v="648" actId="47"/>
        <pc:sldMkLst>
          <pc:docMk/>
          <pc:sldMk cId="3085759935" sldId="1140"/>
        </pc:sldMkLst>
      </pc:sldChg>
      <pc:sldChg chg="modSp mod">
        <pc:chgData name="Ricardo Luiz Freitas" userId="122532effb8c3c75" providerId="LiveId" clId="{75154BF0-8E3E-46E2-BBE7-215340CFF924}" dt="2023-02-07T19:44:43.128" v="871" actId="20577"/>
        <pc:sldMkLst>
          <pc:docMk/>
          <pc:sldMk cId="2212938998" sldId="1141"/>
        </pc:sldMkLst>
      </pc:sldChg>
      <pc:sldChg chg="modSp mod">
        <pc:chgData name="Ricardo Luiz Freitas" userId="122532effb8c3c75" providerId="LiveId" clId="{75154BF0-8E3E-46E2-BBE7-215340CFF924}" dt="2023-02-08T14:50:37.687" v="900" actId="20577"/>
        <pc:sldMkLst>
          <pc:docMk/>
          <pc:sldMk cId="503944883" sldId="1144"/>
        </pc:sldMkLst>
      </pc:sldChg>
      <pc:sldChg chg="modSp del mod">
        <pc:chgData name="Ricardo Luiz Freitas" userId="122532effb8c3c75" providerId="LiveId" clId="{75154BF0-8E3E-46E2-BBE7-215340CFF924}" dt="2023-02-07T19:43:45.565" v="844" actId="47"/>
        <pc:sldMkLst>
          <pc:docMk/>
          <pc:sldMk cId="3826682714" sldId="1145"/>
        </pc:sldMkLst>
      </pc:sldChg>
      <pc:sldChg chg="modSp mod">
        <pc:chgData name="Ricardo Luiz Freitas" userId="122532effb8c3c75" providerId="LiveId" clId="{75154BF0-8E3E-46E2-BBE7-215340CFF924}" dt="2023-02-08T14:51:16.705" v="901" actId="2165"/>
        <pc:sldMkLst>
          <pc:docMk/>
          <pc:sldMk cId="3209458898" sldId="1146"/>
        </pc:sldMkLst>
      </pc:sldChg>
    </pc:docChg>
  </pc:docChgLst>
  <pc:docChgLst>
    <pc:chgData name="Ricardo Luiz Freitas" userId="122532effb8c3c75" providerId="LiveId" clId="{74257DC4-8400-463D-BB69-33453F06E810}"/>
    <pc:docChg chg="undo custSel modSld">
      <pc:chgData name="Ricardo Luiz Freitas" userId="122532effb8c3c75" providerId="LiveId" clId="{74257DC4-8400-463D-BB69-33453F06E810}" dt="2024-02-20T21:03:50.678" v="284" actId="14100"/>
      <pc:docMkLst>
        <pc:docMk/>
      </pc:docMkLst>
      <pc:sldChg chg="modSp mod">
        <pc:chgData name="Ricardo Luiz Freitas" userId="122532effb8c3c75" providerId="LiveId" clId="{74257DC4-8400-463D-BB69-33453F06E810}" dt="2024-02-06T20:16:02.496" v="7" actId="20577"/>
        <pc:sldMkLst>
          <pc:docMk/>
          <pc:sldMk cId="0" sldId="1117"/>
        </pc:sldMkLst>
      </pc:sldChg>
      <pc:sldChg chg="modSp mod">
        <pc:chgData name="Ricardo Luiz Freitas" userId="122532effb8c3c75" providerId="LiveId" clId="{74257DC4-8400-463D-BB69-33453F06E810}" dt="2024-02-06T20:17:03.408" v="13" actId="20577"/>
        <pc:sldMkLst>
          <pc:docMk/>
          <pc:sldMk cId="0" sldId="1122"/>
        </pc:sldMkLst>
      </pc:sldChg>
      <pc:sldChg chg="addSp delSp modSp mod">
        <pc:chgData name="Ricardo Luiz Freitas" userId="122532effb8c3c75" providerId="LiveId" clId="{74257DC4-8400-463D-BB69-33453F06E810}" dt="2024-02-06T20:27:16.188" v="220" actId="1076"/>
        <pc:sldMkLst>
          <pc:docMk/>
          <pc:sldMk cId="2481902006" sldId="1126"/>
        </pc:sldMkLst>
      </pc:sldChg>
      <pc:sldChg chg="modSp mod">
        <pc:chgData name="Ricardo Luiz Freitas" userId="122532effb8c3c75" providerId="LiveId" clId="{74257DC4-8400-463D-BB69-33453F06E810}" dt="2024-02-20T21:03:50.678" v="284" actId="14100"/>
        <pc:sldMkLst>
          <pc:docMk/>
          <pc:sldMk cId="2014289471" sldId="1134"/>
        </pc:sldMkLst>
      </pc:sldChg>
      <pc:sldChg chg="modSp">
        <pc:chgData name="Ricardo Luiz Freitas" userId="122532effb8c3c75" providerId="LiveId" clId="{74257DC4-8400-463D-BB69-33453F06E810}" dt="2024-02-06T20:15:37.652" v="0" actId="6549"/>
        <pc:sldMkLst>
          <pc:docMk/>
          <pc:sldMk cId="366803076" sldId="1137"/>
        </pc:sldMkLst>
      </pc:sldChg>
      <pc:sldChg chg="modSp mod">
        <pc:chgData name="Ricardo Luiz Freitas" userId="122532effb8c3c75" providerId="LiveId" clId="{74257DC4-8400-463D-BB69-33453F06E810}" dt="2024-02-20T20:54:00.381" v="274" actId="20577"/>
        <pc:sldMkLst>
          <pc:docMk/>
          <pc:sldMk cId="503944883" sldId="1144"/>
        </pc:sldMkLst>
      </pc:sldChg>
      <pc:sldChg chg="addSp delSp modSp mod">
        <pc:chgData name="Ricardo Luiz Freitas" userId="122532effb8c3c75" providerId="LiveId" clId="{74257DC4-8400-463D-BB69-33453F06E810}" dt="2024-02-20T20:54:04.250" v="275" actId="20577"/>
        <pc:sldMkLst>
          <pc:docMk/>
          <pc:sldMk cId="3209458898" sldId="1146"/>
        </pc:sldMkLst>
      </pc:sldChg>
    </pc:docChg>
  </pc:docChgLst>
  <pc:docChgLst>
    <pc:chgData name="Ricardo Luiz Freitas" userId="122532effb8c3c75" providerId="LiveId" clId="{452ACCEB-4AE9-4568-925D-6C324C651D99}"/>
    <pc:docChg chg="custSel modSld">
      <pc:chgData name="Ricardo Luiz Freitas" userId="122532effb8c3c75" providerId="LiveId" clId="{452ACCEB-4AE9-4568-925D-6C324C651D99}" dt="2025-02-10T01:13:11.437" v="11" actId="20577"/>
      <pc:docMkLst>
        <pc:docMk/>
      </pc:docMkLst>
      <pc:sldChg chg="modSp mod">
        <pc:chgData name="Ricardo Luiz Freitas" userId="122532effb8c3c75" providerId="LiveId" clId="{452ACCEB-4AE9-4568-925D-6C324C651D99}" dt="2025-02-10T01:12:06.679" v="6" actId="20577"/>
        <pc:sldMkLst>
          <pc:docMk/>
          <pc:sldMk cId="2014289471" sldId="1134"/>
        </pc:sldMkLst>
        <pc:spChg chg="mod">
          <ac:chgData name="Ricardo Luiz Freitas" userId="122532effb8c3c75" providerId="LiveId" clId="{452ACCEB-4AE9-4568-925D-6C324C651D99}" dt="2025-02-10T01:12:06.679" v="6" actId="20577"/>
          <ac:spMkLst>
            <pc:docMk/>
            <pc:sldMk cId="2014289471" sldId="1134"/>
            <ac:spMk id="3" creationId="{71EE2A71-8A2F-4087-B9FE-10CDE9918F7A}"/>
          </ac:spMkLst>
        </pc:spChg>
      </pc:sldChg>
      <pc:sldChg chg="modSp mod">
        <pc:chgData name="Ricardo Luiz Freitas" userId="122532effb8c3c75" providerId="LiveId" clId="{452ACCEB-4AE9-4568-925D-6C324C651D99}" dt="2025-02-10T01:13:06.462" v="9" actId="20577"/>
        <pc:sldMkLst>
          <pc:docMk/>
          <pc:sldMk cId="503944883" sldId="1144"/>
        </pc:sldMkLst>
        <pc:graphicFrameChg chg="modGraphic">
          <ac:chgData name="Ricardo Luiz Freitas" userId="122532effb8c3c75" providerId="LiveId" clId="{452ACCEB-4AE9-4568-925D-6C324C651D99}" dt="2025-02-10T01:13:06.462" v="9" actId="20577"/>
          <ac:graphicFrameMkLst>
            <pc:docMk/>
            <pc:sldMk cId="503944883" sldId="1144"/>
            <ac:graphicFrameMk id="2" creationId="{C60691C9-8B17-4369-AAE3-E6A8C0C0CC7D}"/>
          </ac:graphicFrameMkLst>
        </pc:graphicFrameChg>
      </pc:sldChg>
      <pc:sldChg chg="modSp mod">
        <pc:chgData name="Ricardo Luiz Freitas" userId="122532effb8c3c75" providerId="LiveId" clId="{452ACCEB-4AE9-4568-925D-6C324C651D99}" dt="2025-02-10T01:13:11.437" v="11" actId="20577"/>
        <pc:sldMkLst>
          <pc:docMk/>
          <pc:sldMk cId="3209458898" sldId="1146"/>
        </pc:sldMkLst>
        <pc:graphicFrameChg chg="modGraphic">
          <ac:chgData name="Ricardo Luiz Freitas" userId="122532effb8c3c75" providerId="LiveId" clId="{452ACCEB-4AE9-4568-925D-6C324C651D99}" dt="2025-02-10T01:13:11.437" v="11" actId="20577"/>
          <ac:graphicFrameMkLst>
            <pc:docMk/>
            <pc:sldMk cId="3209458898" sldId="1146"/>
            <ac:graphicFrameMk id="2" creationId="{C60691C9-8B17-4369-AAE3-E6A8C0C0CC7D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C877728-021F-4A02-8D34-024195707F4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0B780B8-6507-45A6-AB2B-EBCB743DF2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49A82F-4140-4027-B70E-A64232005379}" type="slidenum">
              <a:rPr lang="pt-BR" altLang="pt-BR" smtClean="0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DE62D4-B7C2-4526-B741-F9CD2ECCD214}" type="slidenum">
              <a:rPr lang="pt-BR" altLang="pt-BR" smtClean="0"/>
              <a:pPr>
                <a:spcBef>
                  <a:spcPct val="0"/>
                </a:spcBef>
              </a:pPr>
              <a:t>18</a:t>
            </a:fld>
            <a:endParaRPr lang="pt-BR" altLang="pt-BR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1C902-5876-4402-B338-D5A38207421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50736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463F1-92E5-4BBD-8C10-2E2126A38AA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6716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AEF058-C0D1-4D78-9F23-1C3D3F5F518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7571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00935-5B70-4671-9631-B280DFC506A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0695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3F317-F936-46DB-91F7-58293852F51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1644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7709A-8958-4297-9A64-922EE62B84A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0774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B019D9-C3AB-4625-A829-F7496B273D6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0178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2F8D1-3E22-433D-B00E-1E128667CB8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2592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A2D13E-1D7D-49F7-9E2A-4833BB8FDCD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6145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8D607-59FA-49C0-ABD2-D2CB3EBE7CF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09588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8CAC9-FD44-4050-8B42-91BC1BBB6EC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12863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98AD0-D772-4E5E-9266-F8430653A10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162611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0F7FE-A84C-4977-B4CC-69453517E29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87632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DE8B-226D-44AF-BC41-9AAD53AC7C0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5366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-151603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D3EB9F45-F53C-46A8-ABD5-4DD514F6C2DA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029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2" name="Text Box 10"/>
          <p:cNvSpPr txBox="1">
            <a:spLocks noChangeArrowheads="1"/>
          </p:cNvSpPr>
          <p:nvPr/>
        </p:nvSpPr>
        <p:spPr bwMode="auto">
          <a:xfrm>
            <a:off x="456721" y="6361583"/>
            <a:ext cx="6274218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ricardo.freitas@academico.domhelder.edu.br</a:t>
            </a:r>
          </a:p>
        </p:txBody>
      </p:sp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40168293-B5A7-6637-61BF-CC6623AD5CA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6192587"/>
            <a:ext cx="802432" cy="56911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8673" r:id="rId1"/>
    <p:sldLayoutId id="2147488660" r:id="rId2"/>
    <p:sldLayoutId id="2147488661" r:id="rId3"/>
    <p:sldLayoutId id="2147488662" r:id="rId4"/>
    <p:sldLayoutId id="2147488663" r:id="rId5"/>
    <p:sldLayoutId id="2147488664" r:id="rId6"/>
    <p:sldLayoutId id="2147488665" r:id="rId7"/>
    <p:sldLayoutId id="2147488666" r:id="rId8"/>
    <p:sldLayoutId id="2147488667" r:id="rId9"/>
    <p:sldLayoutId id="2147488668" r:id="rId10"/>
    <p:sldLayoutId id="2147488669" r:id="rId11"/>
    <p:sldLayoutId id="2147488670" r:id="rId12"/>
    <p:sldLayoutId id="2147488671" r:id="rId13"/>
    <p:sldLayoutId id="214748867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ad.domhelder.edu.b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bit.ly/3gkTC3R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academico.domhelder.edu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73463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  <p:sp>
        <p:nvSpPr>
          <p:cNvPr id="5124" name="Título 1"/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7623175" cy="968375"/>
          </a:xfrm>
        </p:spPr>
        <p:txBody>
          <a:bodyPr/>
          <a:lstStyle/>
          <a:p>
            <a:pPr algn="l"/>
            <a:b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pt-BR" sz="1800" b="0" i="0" u="none" strike="noStrike" baseline="0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r>
              <a:rPr lang="pt-BR" dirty="0"/>
              <a:t>Trabalho de Conclusão de Curso I – TCC1</a:t>
            </a:r>
            <a:endParaRPr lang="pt-BR" altLang="pt-BR" sz="1800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Imagem 3" descr="Logotipo, nome da empresa&#10;&#10;Descrição gerada automaticamente">
            <a:extLst>
              <a:ext uri="{FF2B5EF4-FFF2-40B4-BE49-F238E27FC236}">
                <a16:creationId xmlns:a16="http://schemas.microsoft.com/office/drawing/2014/main" id="{C77E68D2-EF84-A480-F664-B6D245284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19" y="4552950"/>
            <a:ext cx="2220761" cy="157503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O PROFESSOR</a:t>
            </a:r>
          </a:p>
        </p:txBody>
      </p:sp>
      <p:sp>
        <p:nvSpPr>
          <p:cNvPr id="717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1075"/>
            <a:ext cx="8362950" cy="5184775"/>
          </a:xfrm>
        </p:spPr>
        <p:txBody>
          <a:bodyPr/>
          <a:lstStyle/>
          <a:p>
            <a:r>
              <a:rPr lang="pt-BR" altLang="pt-BR" sz="2300" dirty="0"/>
              <a:t>Técnico em Eletrônica pelo CEFET-MG (1980);</a:t>
            </a:r>
          </a:p>
          <a:p>
            <a:r>
              <a:rPr lang="pt-BR" altLang="pt-BR" sz="2300" dirty="0"/>
              <a:t>Oficial da Reserva do Exército Brasileiro – NPOR (1982);</a:t>
            </a:r>
          </a:p>
          <a:p>
            <a:r>
              <a:rPr lang="pt-BR" altLang="pt-BR" sz="2300" dirty="0"/>
              <a:t>Graduado em Ciência da Computação pela UFMG (1986);</a:t>
            </a:r>
          </a:p>
          <a:p>
            <a:r>
              <a:rPr lang="pt-BR" altLang="pt-BR" sz="2300" dirty="0"/>
              <a:t>Pós-graduado em Análise de Sistemas pela FUMEC (1994);</a:t>
            </a:r>
          </a:p>
          <a:p>
            <a:r>
              <a:rPr lang="pt-BR" altLang="pt-BR" sz="2300" dirty="0"/>
              <a:t>Pós-graduado em Informática na Educação pela PUC-Minas (1999);</a:t>
            </a:r>
          </a:p>
          <a:p>
            <a:r>
              <a:rPr lang="pt-BR" altLang="pt-BR" sz="2300" dirty="0"/>
              <a:t>Mestre em Administração pela FUMEC (2012);</a:t>
            </a:r>
          </a:p>
          <a:p>
            <a:r>
              <a:rPr lang="pt-BR" altLang="pt-BR" sz="2300" dirty="0"/>
              <a:t>Atuou durante 15 anos na RM Sistemas/TOTVS (1994 a 2009);</a:t>
            </a:r>
          </a:p>
          <a:p>
            <a:r>
              <a:rPr lang="pt-BR" altLang="pt-BR" sz="2300" dirty="0"/>
              <a:t>Atuou durante 33 nos na Universidade FUMEC;</a:t>
            </a:r>
          </a:p>
          <a:p>
            <a:r>
              <a:rPr lang="pt-BR" altLang="pt-BR" sz="2300" dirty="0"/>
              <a:t>Diretor da </a:t>
            </a:r>
            <a:r>
              <a:rPr lang="pt-BR" altLang="pt-BR" sz="2300" dirty="0" err="1"/>
              <a:t>Sucesu</a:t>
            </a:r>
            <a:r>
              <a:rPr lang="pt-BR" altLang="pt-BR" sz="2300" dirty="0"/>
              <a:t> Minas;</a:t>
            </a:r>
          </a:p>
          <a:p>
            <a:r>
              <a:rPr lang="pt-BR" altLang="pt-BR" sz="2300" dirty="0"/>
              <a:t>Professor na EMGE/</a:t>
            </a:r>
            <a:r>
              <a:rPr lang="pt-BR" altLang="pt-BR" sz="2300"/>
              <a:t>Dom Helder </a:t>
            </a:r>
            <a:r>
              <a:rPr lang="pt-BR" altLang="pt-BR" sz="2300" dirty="0"/>
              <a:t>desde agosto de 2018.</a:t>
            </a:r>
          </a:p>
        </p:txBody>
      </p:sp>
      <p:sp>
        <p:nvSpPr>
          <p:cNvPr id="717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7C53DB-8725-41A4-8423-496053162D9F}" type="slidenum">
              <a:rPr lang="pt-BR" altLang="en-US" sz="1200" smtClean="0">
                <a:latin typeface="Garamond" panose="02020404030301010803" pitchFamily="18" charset="0"/>
              </a:rPr>
              <a:pPr/>
              <a:t>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D6B38-B804-4856-B121-65AFF8E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TCC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D4DC52-A8C4-48D5-9E95-1365FB08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pt-BR" dirty="0"/>
              <a:t>O Trabalho de Conclusão de Curso (TCC) é uma atividade curricular obrigatória, fundada na articulação entre teoria e prática, que evidencia a ética, o planejamento, a organização e a redação de trabalhos em moldes científicos.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D33D7E-82C5-49BF-AC89-ED3387D610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53353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D6B38-B804-4856-B121-65AFF8E1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TCC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D4DC52-A8C4-48D5-9E95-1365FB08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/>
          <a:lstStyle/>
          <a:p>
            <a:r>
              <a:rPr lang="pt-BR" dirty="0"/>
              <a:t>Objetivos:</a:t>
            </a:r>
          </a:p>
          <a:p>
            <a:pPr lvl="1"/>
            <a:r>
              <a:rPr lang="pt-BR" dirty="0"/>
              <a:t>Despertar o interesse do estudante pela iniciação científica;</a:t>
            </a:r>
          </a:p>
          <a:p>
            <a:pPr lvl="1"/>
            <a:r>
              <a:rPr lang="pt-BR" dirty="0"/>
              <a:t>Estimular o espírito empreendedor através da execução de projetos que levem ao desenvolvimento de produtos;</a:t>
            </a:r>
          </a:p>
          <a:p>
            <a:pPr lvl="1"/>
            <a:r>
              <a:rPr lang="pt-BR" dirty="0"/>
              <a:t>Facilitar a inovação tecnológica;</a:t>
            </a:r>
          </a:p>
          <a:p>
            <a:pPr lvl="1"/>
            <a:r>
              <a:rPr lang="pt-BR" dirty="0"/>
              <a:t>Desenvolver o pensamento crítico e reflexivo na construção do conhecimento coletivo e multidisciplinar;</a:t>
            </a:r>
          </a:p>
          <a:p>
            <a:pPr lvl="1"/>
            <a:r>
              <a:rPr lang="pt-BR" dirty="0"/>
              <a:t>Incentivar a formação continuada.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D33D7E-82C5-49BF-AC89-ED3387D610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8507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A DISCIPLINA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5538"/>
            <a:ext cx="8362950" cy="4530725"/>
          </a:xfrm>
        </p:spPr>
        <p:txBody>
          <a:bodyPr/>
          <a:lstStyle/>
          <a:p>
            <a:pPr>
              <a:defRPr/>
            </a:pPr>
            <a:r>
              <a:rPr lang="pt-BR" altLang="pt-BR" dirty="0"/>
              <a:t>O objetivo da disciplina TCC1 é orientar os alunos a desenvolverem um </a:t>
            </a:r>
            <a:r>
              <a:rPr lang="pt-BR" altLang="pt-BR" b="1" dirty="0"/>
              <a:t>Projeto de Pesquisa</a:t>
            </a:r>
            <a:r>
              <a:rPr lang="pt-BR" altLang="pt-BR" dirty="0"/>
              <a:t>. Nela os alunos não desenvolvem nenhum trabalho (ou aplicação), eles só pesquisam um problema e propõe solução(</a:t>
            </a:r>
            <a:r>
              <a:rPr lang="pt-BR" altLang="pt-BR" dirty="0" err="1"/>
              <a:t>ões</a:t>
            </a:r>
            <a:r>
              <a:rPr lang="pt-BR" altLang="pt-BR" dirty="0"/>
              <a:t>);</a:t>
            </a:r>
          </a:p>
          <a:p>
            <a:pPr>
              <a:defRPr/>
            </a:pPr>
            <a:r>
              <a:rPr lang="pt-BR" altLang="pt-BR" dirty="0"/>
              <a:t>Em TCC2 os alunos implementam a(s) solução(</a:t>
            </a:r>
            <a:r>
              <a:rPr lang="pt-BR" altLang="pt-BR" dirty="0" err="1"/>
              <a:t>ões</a:t>
            </a:r>
            <a:r>
              <a:rPr lang="pt-BR" altLang="pt-BR" dirty="0"/>
              <a:t>) proposta(s) em TCC1;</a:t>
            </a:r>
          </a:p>
          <a:p>
            <a:pPr>
              <a:defRPr/>
            </a:pPr>
            <a:r>
              <a:rPr lang="pt-BR" altLang="pt-BR" b="1" dirty="0">
                <a:solidFill>
                  <a:srgbClr val="FF0000"/>
                </a:solidFill>
              </a:rPr>
              <a:t>O TCC deve ser desenvolvido em duplas</a:t>
            </a:r>
            <a:r>
              <a:rPr lang="pt-BR" altLang="pt-BR" dirty="0"/>
              <a:t>.</a:t>
            </a:r>
          </a:p>
        </p:txBody>
      </p:sp>
      <p:sp>
        <p:nvSpPr>
          <p:cNvPr id="81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26C8E1-C866-48DD-92AC-B07EDAA18555}" type="slidenum">
              <a:rPr lang="pt-BR" altLang="en-US" sz="1200" smtClean="0">
                <a:latin typeface="Garamond" panose="02020404030301010803" pitchFamily="18" charset="0"/>
              </a:rPr>
              <a:pPr/>
              <a:t>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 DISCIPLINA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5538"/>
            <a:ext cx="8362950" cy="5255790"/>
          </a:xfrm>
        </p:spPr>
        <p:txBody>
          <a:bodyPr/>
          <a:lstStyle/>
          <a:p>
            <a:pPr>
              <a:defRPr/>
            </a:pPr>
            <a:r>
              <a:rPr lang="pt-BR" altLang="pt-BR" dirty="0"/>
              <a:t>TCC1 (</a:t>
            </a:r>
            <a:r>
              <a:rPr lang="pt-BR" altLang="pt-BR" b="1" dirty="0"/>
              <a:t>Projeto de Pesquisa</a:t>
            </a:r>
            <a:r>
              <a:rPr lang="pt-BR" altLang="pt-BR" dirty="0"/>
              <a:t>):</a:t>
            </a:r>
          </a:p>
          <a:p>
            <a:pPr lvl="1">
              <a:defRPr/>
            </a:pPr>
            <a:r>
              <a:rPr lang="pt-BR" altLang="pt-BR" dirty="0"/>
              <a:t>Introdução (*);</a:t>
            </a:r>
          </a:p>
          <a:p>
            <a:pPr lvl="1">
              <a:defRPr/>
            </a:pPr>
            <a:r>
              <a:rPr lang="pt-BR" altLang="pt-BR" dirty="0"/>
              <a:t>Pressupostos/hipóteses/problemática (opcional);</a:t>
            </a:r>
          </a:p>
          <a:p>
            <a:pPr lvl="1">
              <a:defRPr/>
            </a:pPr>
            <a:r>
              <a:rPr lang="pt-BR" altLang="pt-BR" dirty="0"/>
              <a:t>Justificativa (*);</a:t>
            </a:r>
          </a:p>
          <a:p>
            <a:pPr lvl="1">
              <a:defRPr/>
            </a:pPr>
            <a:r>
              <a:rPr lang="pt-BR" altLang="pt-BR" dirty="0"/>
              <a:t>Objetivos (geral e específicos) (*);</a:t>
            </a:r>
          </a:p>
          <a:p>
            <a:pPr lvl="1">
              <a:defRPr/>
            </a:pPr>
            <a:r>
              <a:rPr lang="pt-BR" altLang="pt-BR" dirty="0"/>
              <a:t>Referencial teórico (revisão na literatura sobre o tema);</a:t>
            </a:r>
          </a:p>
          <a:p>
            <a:pPr lvl="1">
              <a:defRPr/>
            </a:pPr>
            <a:r>
              <a:rPr lang="pt-BR" altLang="pt-BR" dirty="0"/>
              <a:t>Metodologia (*);</a:t>
            </a:r>
          </a:p>
          <a:p>
            <a:pPr lvl="1">
              <a:defRPr/>
            </a:pPr>
            <a:r>
              <a:rPr lang="pt-BR" altLang="pt-BR" dirty="0"/>
              <a:t>Resultados esperados (*) (opcional);</a:t>
            </a:r>
          </a:p>
          <a:p>
            <a:pPr lvl="1">
              <a:defRPr/>
            </a:pPr>
            <a:r>
              <a:rPr lang="pt-BR" altLang="pt-BR" dirty="0"/>
              <a:t>Referências (bibliografia).</a:t>
            </a:r>
            <a:endParaRPr lang="pt-BR" altLang="pt-BR" sz="1800" dirty="0"/>
          </a:p>
          <a:p>
            <a:pPr marL="344487" lvl="1" indent="0">
              <a:buNone/>
              <a:defRPr/>
            </a:pPr>
            <a:r>
              <a:rPr lang="pt-BR" altLang="pt-BR" sz="1800" i="1" dirty="0"/>
              <a:t>(*) verbos sempre no futuro.</a:t>
            </a:r>
            <a:endParaRPr lang="pt-BR" altLang="pt-BR" sz="2800" i="1" dirty="0"/>
          </a:p>
        </p:txBody>
      </p:sp>
      <p:sp>
        <p:nvSpPr>
          <p:cNvPr id="81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26C8E1-C866-48DD-92AC-B07EDAA18555}" type="slidenum">
              <a:rPr lang="pt-BR" altLang="en-US" sz="1200" smtClean="0">
                <a:latin typeface="Garamond" panose="02020404030301010803" pitchFamily="18" charset="0"/>
              </a:rPr>
              <a:pPr/>
              <a:t>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0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A DISCIPLINA (próxima) </a:t>
            </a:r>
          </a:p>
        </p:txBody>
      </p:sp>
      <p:sp>
        <p:nvSpPr>
          <p:cNvPr id="1433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5538"/>
            <a:ext cx="8686800" cy="4895750"/>
          </a:xfrm>
        </p:spPr>
        <p:txBody>
          <a:bodyPr/>
          <a:lstStyle/>
          <a:p>
            <a:pPr>
              <a:defRPr/>
            </a:pPr>
            <a:r>
              <a:rPr lang="pt-BR" altLang="pt-BR" sz="2800" dirty="0"/>
              <a:t>TCC2 (</a:t>
            </a:r>
            <a:r>
              <a:rPr lang="pt-BR" altLang="pt-BR" sz="2800" b="1" dirty="0"/>
              <a:t>Monografia, Artigo ou Relatório Técnico</a:t>
            </a:r>
            <a:r>
              <a:rPr lang="pt-BR" altLang="pt-BR" sz="2800" dirty="0"/>
              <a:t>):</a:t>
            </a:r>
          </a:p>
          <a:p>
            <a:pPr lvl="1">
              <a:defRPr/>
            </a:pPr>
            <a:r>
              <a:rPr lang="pt-BR" altLang="pt-BR" sz="1800" dirty="0"/>
              <a:t>Introdução;</a:t>
            </a:r>
          </a:p>
          <a:p>
            <a:pPr lvl="1">
              <a:defRPr/>
            </a:pPr>
            <a:r>
              <a:rPr lang="pt-BR" altLang="pt-BR" sz="1800" dirty="0"/>
              <a:t>Pressupostos/hipóteses/problemática (opcional);</a:t>
            </a:r>
          </a:p>
          <a:p>
            <a:pPr lvl="1">
              <a:defRPr/>
            </a:pPr>
            <a:r>
              <a:rPr lang="pt-BR" altLang="pt-BR" sz="1800" dirty="0"/>
              <a:t>Objetivos (geral e específicos);</a:t>
            </a:r>
          </a:p>
          <a:p>
            <a:pPr lvl="1">
              <a:defRPr/>
            </a:pPr>
            <a:r>
              <a:rPr lang="pt-BR" altLang="pt-BR" sz="1800" dirty="0"/>
              <a:t>Justificativa (*);</a:t>
            </a:r>
          </a:p>
          <a:p>
            <a:pPr lvl="1">
              <a:defRPr/>
            </a:pPr>
            <a:r>
              <a:rPr lang="pt-BR" altLang="pt-BR" sz="1800" dirty="0"/>
              <a:t>Referencial teórico (revisão na literatura sobre o tema);</a:t>
            </a:r>
          </a:p>
          <a:p>
            <a:pPr lvl="1">
              <a:defRPr/>
            </a:pPr>
            <a:r>
              <a:rPr lang="pt-BR" altLang="pt-BR" sz="1800" dirty="0"/>
              <a:t>Metodologia (*);</a:t>
            </a:r>
          </a:p>
          <a:p>
            <a:pPr lvl="1">
              <a:defRPr/>
            </a:pPr>
            <a:r>
              <a:rPr lang="pt-BR" altLang="pt-BR" sz="1800" b="1" dirty="0">
                <a:solidFill>
                  <a:srgbClr val="FF0000"/>
                </a:solidFill>
              </a:rPr>
              <a:t>Resultados (*) e Discussões;</a:t>
            </a:r>
          </a:p>
          <a:p>
            <a:pPr lvl="1">
              <a:defRPr/>
            </a:pPr>
            <a:r>
              <a:rPr lang="pt-BR" altLang="pt-BR" sz="1800" b="1" dirty="0">
                <a:solidFill>
                  <a:srgbClr val="FF0000"/>
                </a:solidFill>
              </a:rPr>
              <a:t>Conclusão;</a:t>
            </a:r>
          </a:p>
          <a:p>
            <a:pPr lvl="1">
              <a:defRPr/>
            </a:pPr>
            <a:r>
              <a:rPr lang="pt-BR" altLang="pt-BR" sz="1800" dirty="0"/>
              <a:t>Referências (bibliografia);</a:t>
            </a:r>
          </a:p>
          <a:p>
            <a:pPr lvl="1">
              <a:defRPr/>
            </a:pPr>
            <a:r>
              <a:rPr lang="pt-BR" altLang="pt-BR" sz="1800" b="1" dirty="0">
                <a:solidFill>
                  <a:srgbClr val="FF0000"/>
                </a:solidFill>
              </a:rPr>
              <a:t>Apêndice (opcional);</a:t>
            </a:r>
          </a:p>
          <a:p>
            <a:pPr lvl="1">
              <a:defRPr/>
            </a:pPr>
            <a:r>
              <a:rPr lang="pt-BR" altLang="pt-BR" sz="1800" b="1" dirty="0">
                <a:solidFill>
                  <a:srgbClr val="FF0000"/>
                </a:solidFill>
              </a:rPr>
              <a:t>Anexos (opcional).</a:t>
            </a:r>
          </a:p>
          <a:p>
            <a:pPr lvl="1">
              <a:defRPr/>
            </a:pPr>
            <a:endParaRPr lang="pt-BR" altLang="pt-BR" sz="1100" dirty="0"/>
          </a:p>
          <a:p>
            <a:pPr marL="344487" lvl="1" indent="0">
              <a:buNone/>
              <a:defRPr/>
            </a:pPr>
            <a:r>
              <a:rPr lang="pt-BR" altLang="pt-BR" sz="1600" i="1" dirty="0"/>
              <a:t>(*) verbos no passado.</a:t>
            </a:r>
          </a:p>
        </p:txBody>
      </p:sp>
      <p:sp>
        <p:nvSpPr>
          <p:cNvPr id="81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26C8E1-C866-48DD-92AC-B07EDAA18555}" type="slidenum">
              <a:rPr lang="pt-BR" altLang="en-US" sz="1200" smtClean="0">
                <a:latin typeface="Garamond" panose="02020404030301010803" pitchFamily="18" charset="0"/>
              </a:rPr>
              <a:pPr/>
              <a:t>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01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OS PROFESSORES ENVOLVIDOS</a:t>
            </a:r>
          </a:p>
        </p:txBody>
      </p:sp>
      <p:sp>
        <p:nvSpPr>
          <p:cNvPr id="921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5538"/>
            <a:ext cx="8578850" cy="4967287"/>
          </a:xfrm>
        </p:spPr>
        <p:txBody>
          <a:bodyPr/>
          <a:lstStyle/>
          <a:p>
            <a:r>
              <a:rPr lang="pt-BR" altLang="pt-BR" sz="2400" b="1" dirty="0"/>
              <a:t>Professor da disciplina</a:t>
            </a:r>
            <a:r>
              <a:rPr lang="pt-BR" altLang="pt-BR" sz="2400" dirty="0"/>
              <a:t>:</a:t>
            </a:r>
          </a:p>
          <a:p>
            <a:pPr lvl="1"/>
            <a:r>
              <a:rPr lang="pt-BR" altLang="pt-BR" sz="2000" dirty="0"/>
              <a:t>É o orientador de metodologia:</a:t>
            </a:r>
          </a:p>
          <a:p>
            <a:pPr lvl="1"/>
            <a:r>
              <a:rPr lang="pt-BR" altLang="pt-BR" sz="2000" dirty="0"/>
              <a:t>Orienta sobre as normas da ABNT;</a:t>
            </a:r>
          </a:p>
          <a:p>
            <a:pPr lvl="1"/>
            <a:r>
              <a:rPr lang="pt-BR" altLang="pt-BR" sz="2000" dirty="0"/>
              <a:t>Verifica se todas as partes do Projeto estão corretas;</a:t>
            </a:r>
          </a:p>
          <a:p>
            <a:pPr lvl="1"/>
            <a:r>
              <a:rPr lang="pt-BR" altLang="pt-BR" sz="2000" dirty="0"/>
              <a:t>Não questiona nem sugere conteúdo para o Projeto;</a:t>
            </a:r>
          </a:p>
          <a:p>
            <a:pPr lvl="1"/>
            <a:r>
              <a:rPr lang="pt-BR" altLang="pt-BR" sz="2000" dirty="0"/>
              <a:t>Não participa das reuniões dos alunos com o orientador;</a:t>
            </a:r>
          </a:p>
          <a:p>
            <a:pPr lvl="1"/>
            <a:r>
              <a:rPr lang="pt-BR" altLang="pt-BR" sz="2000" dirty="0"/>
              <a:t>Não pode ser professor orientador de conteúdo.</a:t>
            </a:r>
          </a:p>
          <a:p>
            <a:pPr lvl="1"/>
            <a:endParaRPr lang="pt-BR" altLang="pt-BR" sz="2000" dirty="0"/>
          </a:p>
          <a:p>
            <a:r>
              <a:rPr lang="pt-BR" altLang="pt-BR" sz="2400" b="1" dirty="0"/>
              <a:t>Professor orientador</a:t>
            </a:r>
            <a:r>
              <a:rPr lang="pt-BR" altLang="pt-BR" sz="2400" dirty="0"/>
              <a:t>:</a:t>
            </a:r>
          </a:p>
          <a:p>
            <a:pPr lvl="1"/>
            <a:r>
              <a:rPr lang="pt-BR" altLang="pt-BR" sz="2000" dirty="0"/>
              <a:t>É o orientador de conteúdo;</a:t>
            </a:r>
          </a:p>
          <a:p>
            <a:pPr lvl="1"/>
            <a:r>
              <a:rPr lang="pt-BR" altLang="pt-BR" sz="2000" dirty="0"/>
              <a:t>Se reúne semanalmente com os seus orientandos (alunos);</a:t>
            </a:r>
          </a:p>
          <a:p>
            <a:pPr lvl="1"/>
            <a:r>
              <a:rPr lang="pt-BR" altLang="pt-BR" sz="2000" dirty="0">
                <a:solidFill>
                  <a:srgbClr val="FF0000"/>
                </a:solidFill>
              </a:rPr>
              <a:t>Em TCC1 </a:t>
            </a:r>
            <a:r>
              <a:rPr lang="pt-BR" altLang="pt-BR" sz="2000" b="1" u="sng" dirty="0">
                <a:solidFill>
                  <a:srgbClr val="FF0000"/>
                </a:solidFill>
              </a:rPr>
              <a:t>não</a:t>
            </a:r>
            <a:r>
              <a:rPr lang="pt-BR" altLang="pt-BR" sz="2000" dirty="0">
                <a:solidFill>
                  <a:srgbClr val="FF0000"/>
                </a:solidFill>
              </a:rPr>
              <a:t> há banca de defesa do projeto.</a:t>
            </a:r>
          </a:p>
        </p:txBody>
      </p:sp>
      <p:sp>
        <p:nvSpPr>
          <p:cNvPr id="92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B99BD7-3C44-4C5E-8A11-9C3F908195D7}" type="slidenum">
              <a:rPr lang="pt-BR" altLang="en-US" sz="1200" smtClean="0">
                <a:latin typeface="Garamond" panose="02020404030301010803" pitchFamily="18" charset="0"/>
              </a:rPr>
              <a:pPr/>
              <a:t>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AS REUNIÕES DE ORIENTAÇÃO</a:t>
            </a:r>
          </a:p>
        </p:txBody>
      </p:sp>
      <p:sp>
        <p:nvSpPr>
          <p:cNvPr id="921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5538"/>
            <a:ext cx="8578850" cy="4967287"/>
          </a:xfrm>
        </p:spPr>
        <p:txBody>
          <a:bodyPr/>
          <a:lstStyle/>
          <a:p>
            <a:r>
              <a:rPr lang="pt-BR" altLang="pt-BR" sz="2400" dirty="0"/>
              <a:t>Serão 30 minutos por semana para os alunos se reunirem com seus professores orientadores:</a:t>
            </a:r>
          </a:p>
          <a:p>
            <a:pPr lvl="1"/>
            <a:r>
              <a:rPr lang="pt-BR" altLang="pt-BR" sz="2000" dirty="0"/>
              <a:t>Reuniões agendadas no Teams ou presencialmente;</a:t>
            </a:r>
          </a:p>
          <a:p>
            <a:pPr lvl="1"/>
            <a:r>
              <a:rPr lang="pt-BR" altLang="pt-BR" sz="2000" dirty="0"/>
              <a:t>Mínimo de </a:t>
            </a:r>
            <a:r>
              <a:rPr lang="pt-BR" altLang="pt-BR" sz="2000" b="1" dirty="0"/>
              <a:t>seis</a:t>
            </a:r>
            <a:r>
              <a:rPr lang="pt-BR" altLang="pt-BR" sz="2000" dirty="0"/>
              <a:t> reuniões no semestre (</a:t>
            </a:r>
            <a:r>
              <a:rPr lang="pt-BR" altLang="pt-BR" sz="2000" b="1" dirty="0"/>
              <a:t>duas</a:t>
            </a:r>
            <a:r>
              <a:rPr lang="pt-BR" altLang="pt-BR" sz="2000" dirty="0"/>
              <a:t> por mês);</a:t>
            </a:r>
          </a:p>
          <a:p>
            <a:pPr lvl="1"/>
            <a:endParaRPr lang="pt-BR" altLang="pt-BR" sz="2000" dirty="0"/>
          </a:p>
          <a:p>
            <a:r>
              <a:rPr lang="pt-BR" altLang="pt-BR" sz="2400" dirty="0"/>
              <a:t>Deverão ser registradas pelo professor orientador em formulário eletrônico fornecido pelo professor da disciplina:</a:t>
            </a:r>
          </a:p>
          <a:p>
            <a:pPr lvl="1"/>
            <a:r>
              <a:rPr lang="pt-BR" altLang="pt-BR" sz="2000" dirty="0"/>
              <a:t>Será feito um registro para cada reunião;</a:t>
            </a:r>
          </a:p>
          <a:p>
            <a:pPr lvl="1"/>
            <a:endParaRPr lang="pt-BR" altLang="pt-BR" sz="2000" dirty="0"/>
          </a:p>
          <a:p>
            <a:r>
              <a:rPr lang="pt-BR" altLang="pt-BR" sz="2400" b="1" u="sng" dirty="0">
                <a:solidFill>
                  <a:srgbClr val="FF0000"/>
                </a:solidFill>
              </a:rPr>
              <a:t>IMPORTANTE</a:t>
            </a:r>
            <a:r>
              <a:rPr lang="pt-BR" altLang="pt-BR" sz="2400" dirty="0">
                <a:solidFill>
                  <a:srgbClr val="FF0000"/>
                </a:solidFill>
              </a:rPr>
              <a:t>: Para os alunos serem aprovados na disciplina, deverão ter acontecidas, no mínimo, 6 reuniões dos alunos com os orientadores. </a:t>
            </a:r>
            <a:r>
              <a:rPr lang="pt-BR" altLang="pt-BR" sz="2400" u="sng" dirty="0">
                <a:solidFill>
                  <a:srgbClr val="FF0000"/>
                </a:solidFill>
              </a:rPr>
              <a:t>As reuniões só serão válidas se acontecerem em duplas!</a:t>
            </a:r>
          </a:p>
          <a:p>
            <a:pPr lvl="1"/>
            <a:endParaRPr lang="pt-BR" altLang="pt-BR" sz="2000" dirty="0"/>
          </a:p>
        </p:txBody>
      </p:sp>
      <p:sp>
        <p:nvSpPr>
          <p:cNvPr id="92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B99BD7-3C44-4C5E-8A11-9C3F908195D7}" type="slidenum">
              <a:rPr lang="pt-BR" altLang="en-US" sz="1200" smtClean="0">
                <a:latin typeface="Garamond" panose="02020404030301010803" pitchFamily="18" charset="0"/>
              </a:rPr>
              <a:pPr/>
              <a:t>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579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A DISTRIBUIÇÃO DE PONTOS</a:t>
            </a:r>
          </a:p>
        </p:txBody>
      </p:sp>
      <p:sp>
        <p:nvSpPr>
          <p:cNvPr id="92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B99BD7-3C44-4C5E-8A11-9C3F908195D7}" type="slidenum">
              <a:rPr lang="pt-BR" altLang="en-US" sz="1200" smtClean="0">
                <a:latin typeface="Garamond" panose="02020404030301010803" pitchFamily="18" charset="0"/>
              </a:rPr>
              <a:pPr/>
              <a:t>10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60691C9-8B17-4369-AAE3-E6A8C0C0C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688206"/>
              </p:ext>
            </p:extLst>
          </p:nvPr>
        </p:nvGraphicFramePr>
        <p:xfrm>
          <a:off x="457200" y="1196752"/>
          <a:ext cx="8075241" cy="3060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56">
                  <a:extLst>
                    <a:ext uri="{9D8B030D-6E8A-4147-A177-3AD203B41FA5}">
                      <a16:colId xmlns:a16="http://schemas.microsoft.com/office/drawing/2014/main" val="4169217473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128739815"/>
                    </a:ext>
                  </a:extLst>
                </a:gridCol>
                <a:gridCol w="2160241">
                  <a:extLst>
                    <a:ext uri="{9D8B030D-6E8A-4147-A177-3AD203B41FA5}">
                      <a16:colId xmlns:a16="http://schemas.microsoft.com/office/drawing/2014/main" val="3801527578"/>
                    </a:ext>
                  </a:extLst>
                </a:gridCol>
              </a:tblGrid>
              <a:tr h="936104">
                <a:tc>
                  <a:txBody>
                    <a:bodyPr/>
                    <a:lstStyle/>
                    <a:p>
                      <a:r>
                        <a:rPr lang="pt-BR" dirty="0"/>
                        <a:t>Pontos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Professor Responsável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96118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Formulários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Partes do Projeto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Projeto Final “corrigido”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Professor da Disciplina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759421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Participação do aluno durante o desenvolvimento do Projeto</a:t>
                      </a:r>
                      <a:endParaRPr lang="pt-B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Professor(a) Orientador(a)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858821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D7212445-7341-425D-A305-20548485C142}"/>
              </a:ext>
            </a:extLst>
          </p:cNvPr>
          <p:cNvSpPr txBox="1"/>
          <p:nvPr/>
        </p:nvSpPr>
        <p:spPr>
          <a:xfrm>
            <a:off x="457200" y="5660052"/>
            <a:ext cx="8075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000" b="1" dirty="0"/>
              <a:t>Importante</a:t>
            </a:r>
            <a:r>
              <a:rPr lang="pt-BR" altLang="pt-BR" sz="2000" dirty="0"/>
              <a:t>: mínimo de 65 para aprovação!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5512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PONTOS: DISCIPLINA (50 </a:t>
            </a:r>
            <a:r>
              <a:rPr lang="pt-BR" altLang="pt-BR" dirty="0" err="1"/>
              <a:t>pts</a:t>
            </a:r>
            <a:r>
              <a:rPr lang="pt-BR" altLang="pt-BR" dirty="0"/>
              <a:t>)</a:t>
            </a:r>
          </a:p>
        </p:txBody>
      </p:sp>
      <p:sp>
        <p:nvSpPr>
          <p:cNvPr id="92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B99BD7-3C44-4C5E-8A11-9C3F908195D7}" type="slidenum">
              <a:rPr lang="pt-BR" altLang="en-US" sz="1200" smtClean="0">
                <a:latin typeface="Garamond" panose="02020404030301010803" pitchFamily="18" charset="0"/>
              </a:rPr>
              <a:pPr/>
              <a:t>11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60691C9-8B17-4369-AAE3-E6A8C0C0C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137821"/>
              </p:ext>
            </p:extLst>
          </p:nvPr>
        </p:nvGraphicFramePr>
        <p:xfrm>
          <a:off x="457200" y="1052736"/>
          <a:ext cx="8229600" cy="4648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043">
                  <a:extLst>
                    <a:ext uri="{9D8B030D-6E8A-4147-A177-3AD203B41FA5}">
                      <a16:colId xmlns:a16="http://schemas.microsoft.com/office/drawing/2014/main" val="4169217473"/>
                    </a:ext>
                  </a:extLst>
                </a:gridCol>
                <a:gridCol w="847158">
                  <a:extLst>
                    <a:ext uri="{9D8B030D-6E8A-4147-A177-3AD203B41FA5}">
                      <a16:colId xmlns:a16="http://schemas.microsoft.com/office/drawing/2014/main" val="4046505637"/>
                    </a:ext>
                  </a:extLst>
                </a:gridCol>
                <a:gridCol w="6438399">
                  <a:extLst>
                    <a:ext uri="{9D8B030D-6E8A-4147-A177-3AD203B41FA5}">
                      <a16:colId xmlns:a16="http://schemas.microsoft.com/office/drawing/2014/main" val="2128739815"/>
                    </a:ext>
                  </a:extLst>
                </a:gridCol>
              </a:tblGrid>
              <a:tr h="646433">
                <a:tc>
                  <a:txBody>
                    <a:bodyPr/>
                    <a:lstStyle/>
                    <a:p>
                      <a:r>
                        <a:rPr lang="pt-BR" sz="1600" dirty="0" err="1"/>
                        <a:t>Ativi-dade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Pon-tos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96118"/>
                  </a:ext>
                </a:extLst>
              </a:tr>
              <a:tr h="3458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Devolução do Documento 1 (Pré-Projeto) preenchido pelos alunos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759421"/>
                  </a:ext>
                </a:extLst>
              </a:tr>
              <a:tr h="3458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>
                          <a:solidFill>
                            <a:schemeClr val="tx1"/>
                          </a:solidFill>
                        </a:rPr>
                        <a:t>x.x.x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Devolução do Documento 2 (Registro dos Encontros de Orientação - mês 1) preenchido e enviado pelo orientador (mínimo de 2 encontros)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453177"/>
                  </a:ext>
                </a:extLst>
              </a:tr>
              <a:tr h="57838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Entrega da versão INICIAL do Projeto de Pesquisa com capa (título), folha de rosto, introdução, problematização/hipóteses (opcional), objetivos, justificativa e r</a:t>
                      </a:r>
                      <a:r>
                        <a:rPr lang="pt-BR" altLang="pt-BR" sz="1400" dirty="0"/>
                        <a:t>eferências (bibliografia).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050735"/>
                  </a:ext>
                </a:extLst>
              </a:tr>
              <a:tr h="57838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>
                          <a:solidFill>
                            <a:schemeClr val="tx1"/>
                          </a:solidFill>
                        </a:rPr>
                        <a:t>x.x.x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Devolução do Documento 2 (Registro dos Encontros de Orientação - mês 2) preenchido e enviado pelo orientador (mínimo de 2 encontros)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601851"/>
                  </a:ext>
                </a:extLst>
              </a:tr>
              <a:tr h="3458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Entrega da versão FINAL do Projeto de Pesquisa completo acrescido de referencial teórico, metodologia, resultados esperados (opcional) e r</a:t>
                      </a:r>
                      <a:r>
                        <a:rPr lang="pt-BR" altLang="pt-BR" sz="1400" dirty="0"/>
                        <a:t>eferências (bibliografia)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552145"/>
                  </a:ext>
                </a:extLst>
              </a:tr>
              <a:tr h="3458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>
                          <a:solidFill>
                            <a:schemeClr val="tx1"/>
                          </a:solidFill>
                        </a:rPr>
                        <a:t>x.x.x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Devolução do Documento 2 (Registro dos Encontros de Orientação - mês 3) preenchido e enviado pelo orientador (mínimo de 2 encontros)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699642"/>
                  </a:ext>
                </a:extLst>
              </a:tr>
              <a:tr h="57838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>
                          <a:solidFill>
                            <a:schemeClr val="tx1"/>
                          </a:solidFill>
                        </a:rPr>
                        <a:t>x.x.x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Entrega da versão FINAL do Projeto de Pesquisa (versão após correções do orientador)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773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94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PONTOS: ORIENTADOR (50 </a:t>
            </a:r>
            <a:r>
              <a:rPr lang="pt-BR" altLang="pt-BR" dirty="0" err="1"/>
              <a:t>pts</a:t>
            </a:r>
            <a:r>
              <a:rPr lang="pt-BR" altLang="pt-BR" dirty="0"/>
              <a:t>)</a:t>
            </a:r>
          </a:p>
        </p:txBody>
      </p:sp>
      <p:sp>
        <p:nvSpPr>
          <p:cNvPr id="92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B99BD7-3C44-4C5E-8A11-9C3F908195D7}" type="slidenum">
              <a:rPr lang="pt-BR" altLang="en-US" sz="1200" smtClean="0">
                <a:latin typeface="Garamond" panose="02020404030301010803" pitchFamily="18" charset="0"/>
              </a:rPr>
              <a:pPr/>
              <a:t>12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60691C9-8B17-4369-AAE3-E6A8C0C0C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765579"/>
              </p:ext>
            </p:extLst>
          </p:nvPr>
        </p:nvGraphicFramePr>
        <p:xfrm>
          <a:off x="457200" y="1196752"/>
          <a:ext cx="82296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862">
                  <a:extLst>
                    <a:ext uri="{9D8B030D-6E8A-4147-A177-3AD203B41FA5}">
                      <a16:colId xmlns:a16="http://schemas.microsoft.com/office/drawing/2014/main" val="4169217473"/>
                    </a:ext>
                  </a:extLst>
                </a:gridCol>
                <a:gridCol w="855969">
                  <a:extLst>
                    <a:ext uri="{9D8B030D-6E8A-4147-A177-3AD203B41FA5}">
                      <a16:colId xmlns:a16="http://schemas.microsoft.com/office/drawing/2014/main" val="4046505637"/>
                    </a:ext>
                  </a:extLst>
                </a:gridCol>
                <a:gridCol w="6419769">
                  <a:extLst>
                    <a:ext uri="{9D8B030D-6E8A-4147-A177-3AD203B41FA5}">
                      <a16:colId xmlns:a16="http://schemas.microsoft.com/office/drawing/2014/main" val="2128739815"/>
                    </a:ext>
                  </a:extLst>
                </a:gridCol>
              </a:tblGrid>
              <a:tr h="528059">
                <a:tc>
                  <a:txBody>
                    <a:bodyPr/>
                    <a:lstStyle/>
                    <a:p>
                      <a:r>
                        <a:rPr lang="pt-BR" sz="1600" dirty="0" err="1"/>
                        <a:t>Ativi-dade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 err="1"/>
                        <a:t>Pon-tos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96118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Entrega da versão INICIAL do Projeto de Pesquisa com capa (título), folha de rosto, introdução, problematização/hipóteses (opcional) objetivos, justificativa e r</a:t>
                      </a:r>
                      <a:r>
                        <a:rPr lang="pt-BR" altLang="pt-BR" sz="1400" dirty="0"/>
                        <a:t>eferências (</a:t>
                      </a:r>
                      <a:r>
                        <a:rPr lang="pt-BR" altLang="pt-BR" sz="1400"/>
                        <a:t>bibliografia)</a:t>
                      </a:r>
                      <a:endParaRPr lang="pt-BR" alt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050735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5B</a:t>
                      </a:r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Entrega da versão FINAL do Projeto de Pesquisa completo acrescido de referencial teórico, metodologia, resultados esperados (opcional) e r</a:t>
                      </a:r>
                      <a:r>
                        <a:rPr lang="pt-BR" altLang="pt-BR" sz="1400" dirty="0"/>
                        <a:t>eferências (bibliografia)</a:t>
                      </a:r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55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5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FFA25-46CF-4D39-92E1-EEB5452A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MATERIAIS A SEREM DISPONIBILIZADOS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5646DB-4130-4771-B995-DEFAE39A7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64496"/>
          </a:xfrm>
        </p:spPr>
        <p:txBody>
          <a:bodyPr/>
          <a:lstStyle/>
          <a:p>
            <a:r>
              <a:rPr lang="pt-BR" sz="1800" dirty="0"/>
              <a:t>Plano de Ensino da disciplina;</a:t>
            </a:r>
          </a:p>
          <a:p>
            <a:r>
              <a:rPr lang="pt-BR" sz="1800" dirty="0"/>
              <a:t>Slides (na forma de </a:t>
            </a:r>
            <a:r>
              <a:rPr lang="pt-BR" sz="1800" dirty="0" err="1"/>
              <a:t>ppt</a:t>
            </a:r>
            <a:r>
              <a:rPr lang="pt-BR" sz="1800" dirty="0"/>
              <a:t>) com os conteúdos das aulas;</a:t>
            </a:r>
          </a:p>
          <a:p>
            <a:r>
              <a:rPr lang="pt-BR" sz="1800" dirty="0"/>
              <a:t>Normas ABNT para trabalhos acadêmicos;</a:t>
            </a:r>
          </a:p>
          <a:p>
            <a:r>
              <a:rPr lang="pt-BR" sz="1800" dirty="0"/>
              <a:t>Cartilha sobre Plágio Acadêmico;</a:t>
            </a:r>
          </a:p>
          <a:p>
            <a:r>
              <a:rPr lang="pt-BR" sz="1800" dirty="0"/>
              <a:t>Documentos:</a:t>
            </a:r>
          </a:p>
          <a:p>
            <a:pPr lvl="1"/>
            <a:r>
              <a:rPr lang="pt-BR" sz="1600" dirty="0"/>
              <a:t>1 - Pré-projeto (formulário eletrônico para os alunos registrarem seu tema);</a:t>
            </a:r>
          </a:p>
          <a:p>
            <a:pPr lvl="1"/>
            <a:r>
              <a:rPr lang="pt-BR" sz="1600" dirty="0"/>
              <a:t>2 - Registro de Encontros de Orientação (formulário eletrônico para o professor orientador registrar as reuniões mensais dos alunos com os seus orientandos);</a:t>
            </a:r>
          </a:p>
          <a:p>
            <a:pPr lvl="1"/>
            <a:r>
              <a:rPr lang="pt-BR" sz="1600" dirty="0"/>
              <a:t>3 - Cronograma das Atividades de Orientação;</a:t>
            </a:r>
          </a:p>
          <a:p>
            <a:pPr lvl="1"/>
            <a:r>
              <a:rPr lang="pt-BR" sz="1600" dirty="0"/>
              <a:t>4 - Modelos de escrita de Projeto de Pesquisa (em Word);</a:t>
            </a:r>
          </a:p>
          <a:p>
            <a:r>
              <a:rPr lang="pt-BR" sz="1800" dirty="0"/>
              <a:t>Cronograma das atividades da disciplina, com datas de devolução dos documentos acima.</a:t>
            </a:r>
          </a:p>
          <a:p>
            <a:endParaRPr lang="pt-BR" sz="1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EE55EC-C307-4C11-AFE3-E570AC229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1293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O ALUNO</a:t>
            </a:r>
          </a:p>
        </p:txBody>
      </p:sp>
      <p:sp>
        <p:nvSpPr>
          <p:cNvPr id="1229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5538"/>
            <a:ext cx="8578850" cy="4895850"/>
          </a:xfrm>
        </p:spPr>
        <p:txBody>
          <a:bodyPr/>
          <a:lstStyle/>
          <a:p>
            <a:r>
              <a:rPr lang="pt-BR" altLang="pt-BR" sz="2400" dirty="0"/>
              <a:t>Leitura do </a:t>
            </a:r>
            <a:r>
              <a:rPr lang="pt-BR" altLang="pt-BR" sz="2400" b="1" dirty="0"/>
              <a:t>Plano de Ensino </a:t>
            </a:r>
            <a:r>
              <a:rPr lang="pt-BR" altLang="pt-BR" sz="2400" dirty="0"/>
              <a:t>no portal: bibliografia recomendada;</a:t>
            </a:r>
          </a:p>
          <a:p>
            <a:r>
              <a:rPr lang="pt-BR" altLang="pt-BR" sz="2400" dirty="0"/>
              <a:t>Acompanhamento do </a:t>
            </a:r>
            <a:r>
              <a:rPr lang="pt-BR" altLang="pt-BR" sz="2400" b="1" dirty="0"/>
              <a:t>Cronograma</a:t>
            </a:r>
            <a:r>
              <a:rPr lang="pt-BR" altLang="pt-BR" sz="2400" dirty="0"/>
              <a:t> no portal: datas de entrega dos documentos já definidas;</a:t>
            </a:r>
          </a:p>
          <a:p>
            <a:r>
              <a:rPr lang="pt-BR" altLang="pt-BR" sz="2400" dirty="0"/>
              <a:t>Participação obrigatória do grupo de </a:t>
            </a:r>
            <a:r>
              <a:rPr lang="pt-BR" altLang="pt-BR" sz="2400" b="1" dirty="0"/>
              <a:t>WhatsApp</a:t>
            </a:r>
            <a:r>
              <a:rPr lang="pt-BR" altLang="pt-BR" sz="2400" dirty="0"/>
              <a:t> da turma.</a:t>
            </a:r>
          </a:p>
        </p:txBody>
      </p:sp>
      <p:sp>
        <p:nvSpPr>
          <p:cNvPr id="1229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C2990B-2751-4AA0-AE9E-C8FFC39D02BA}" type="slidenum">
              <a:rPr lang="pt-BR" altLang="en-US" sz="1200" smtClean="0">
                <a:latin typeface="Garamond" panose="02020404030301010803" pitchFamily="18" charset="0"/>
              </a:rPr>
              <a:pPr/>
              <a:t>14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40343-357D-4845-8CE4-9CB12443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PLATAFORMAS DE EAD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EE2A71-8A2F-4087-B9FE-10CDE9918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686800" cy="5078189"/>
          </a:xfrm>
        </p:spPr>
        <p:txBody>
          <a:bodyPr/>
          <a:lstStyle/>
          <a:p>
            <a:pPr marL="0" indent="0">
              <a:buNone/>
            </a:pPr>
            <a:endParaRPr lang="pt-BR" sz="1600" b="1" dirty="0"/>
          </a:p>
          <a:p>
            <a:r>
              <a:rPr lang="pt-BR" sz="3200" dirty="0" err="1"/>
              <a:t>Moodle</a:t>
            </a:r>
            <a:r>
              <a:rPr lang="pt-BR" sz="3600" dirty="0"/>
              <a:t> (</a:t>
            </a:r>
            <a:r>
              <a:rPr lang="pt-BR" sz="2800" dirty="0">
                <a:hlinkClick r:id="rId2"/>
              </a:rPr>
              <a:t>https://ead.domhelder.edu.br</a:t>
            </a:r>
            <a:r>
              <a:rPr lang="pt-BR" sz="3600" dirty="0"/>
              <a:t>)</a:t>
            </a:r>
            <a:r>
              <a:rPr lang="pt-BR" sz="3200" dirty="0"/>
              <a:t>:</a:t>
            </a:r>
          </a:p>
          <a:p>
            <a:pPr lvl="1"/>
            <a:r>
              <a:rPr lang="pt-BR" sz="2400" dirty="0"/>
              <a:t>Avisos;</a:t>
            </a:r>
          </a:p>
          <a:p>
            <a:pPr lvl="1"/>
            <a:r>
              <a:rPr lang="pt-BR" sz="2400" dirty="0"/>
              <a:t>Baixar (download) documentos, modelos e materiais de estudo;</a:t>
            </a:r>
          </a:p>
          <a:p>
            <a:pPr lvl="1"/>
            <a:r>
              <a:rPr lang="pt-BR" sz="2400" dirty="0"/>
              <a:t>Entrega (upload) de documentos valendo ponto;</a:t>
            </a:r>
          </a:p>
          <a:p>
            <a:pPr lvl="1"/>
            <a:r>
              <a:rPr lang="pt-BR" sz="2400" dirty="0"/>
              <a:t>Postagem de pontos individuais de cada atividade valendo ponto desenvolvida na disciplina;</a:t>
            </a:r>
          </a:p>
          <a:p>
            <a:pPr lvl="1"/>
            <a:r>
              <a:rPr lang="pt-BR" sz="2400" dirty="0"/>
              <a:t>Versões no browser e app para celulares.</a:t>
            </a:r>
          </a:p>
          <a:p>
            <a:pPr lvl="1"/>
            <a:endParaRPr lang="pt-BR" sz="2400" dirty="0"/>
          </a:p>
          <a:p>
            <a:pPr lvl="1"/>
            <a:r>
              <a:rPr lang="pt-BR" sz="2400" dirty="0"/>
              <a:t>É o </a:t>
            </a:r>
            <a:r>
              <a:rPr lang="pt-BR" sz="2400" b="1" dirty="0"/>
              <a:t>AVA</a:t>
            </a:r>
            <a:r>
              <a:rPr lang="pt-BR" sz="2400" dirty="0"/>
              <a:t> da escola (Ambiente Virtual de </a:t>
            </a:r>
            <a:r>
              <a:rPr lang="pt-BR" sz="2400"/>
              <a:t>Aprendizagem).</a:t>
            </a:r>
            <a:endParaRPr lang="pt-BR" sz="3200" dirty="0"/>
          </a:p>
          <a:p>
            <a:endParaRPr lang="pt-BR" sz="3200" dirty="0"/>
          </a:p>
          <a:p>
            <a:endParaRPr lang="pt-BR" sz="3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1D1FAC-69C3-4824-8349-5918D5BD2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717374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40343-357D-4845-8CE4-9CB12443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PLATAFORMAS DE EAD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EE2A71-8A2F-4087-B9FE-10CDE9918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3139"/>
            <a:ext cx="8229600" cy="4718149"/>
          </a:xfrm>
        </p:spPr>
        <p:txBody>
          <a:bodyPr/>
          <a:lstStyle/>
          <a:p>
            <a:r>
              <a:rPr lang="pt-BR" sz="2800" dirty="0"/>
              <a:t>Microsoft Teams:</a:t>
            </a:r>
          </a:p>
          <a:p>
            <a:pPr lvl="1"/>
            <a:r>
              <a:rPr lang="pt-BR" sz="2000" dirty="0"/>
              <a:t>Aulas semanais </a:t>
            </a:r>
            <a:r>
              <a:rPr lang="pt-BR" sz="2000" i="1" dirty="0" err="1"/>
              <a:t>on</a:t>
            </a:r>
            <a:r>
              <a:rPr lang="pt-BR" sz="2000" i="1" dirty="0"/>
              <a:t> </a:t>
            </a:r>
            <a:r>
              <a:rPr lang="pt-BR" sz="2000" i="1" dirty="0" err="1"/>
              <a:t>line</a:t>
            </a:r>
            <a:r>
              <a:rPr lang="pt-BR" sz="2000" dirty="0"/>
              <a:t> no horário estabelecido pelo professor da disciplina:</a:t>
            </a:r>
          </a:p>
          <a:p>
            <a:pPr lvl="2"/>
            <a:r>
              <a:rPr lang="pt-BR" sz="1600" b="1" dirty="0">
                <a:solidFill>
                  <a:srgbClr val="FF0000"/>
                </a:solidFill>
              </a:rPr>
              <a:t>ÀS QUARTAS-FEIRAS, DE 17 ÀS 18H15;</a:t>
            </a:r>
          </a:p>
          <a:p>
            <a:pPr lvl="2"/>
            <a:r>
              <a:rPr lang="pt-BR" sz="1600" b="1" dirty="0">
                <a:solidFill>
                  <a:srgbClr val="FF0000"/>
                </a:solidFill>
              </a:rPr>
              <a:t>AS AULAS SERÃO GRAVADAS;</a:t>
            </a:r>
          </a:p>
          <a:p>
            <a:pPr lvl="1"/>
            <a:r>
              <a:rPr lang="pt-BR" sz="2000" dirty="0"/>
              <a:t>Alunos com microfone e áudio desabilitados;</a:t>
            </a:r>
          </a:p>
          <a:p>
            <a:pPr lvl="1"/>
            <a:r>
              <a:rPr lang="pt-BR" sz="2000" dirty="0"/>
              <a:t>Se o aluno quiser falar “acene” a mão ou informe no chat;</a:t>
            </a:r>
          </a:p>
          <a:p>
            <a:pPr lvl="1"/>
            <a:r>
              <a:rPr lang="pt-BR" sz="2000" dirty="0"/>
              <a:t>Uso do chat somente para assuntos ligados a aula;</a:t>
            </a:r>
          </a:p>
          <a:p>
            <a:pPr lvl="1"/>
            <a:r>
              <a:rPr lang="pt-BR" sz="2000" dirty="0"/>
              <a:t>Compartilhamento da tela do aluno para esclarecimentos de dúvidas no seu trabalho;</a:t>
            </a:r>
          </a:p>
          <a:p>
            <a:pPr lvl="1"/>
            <a:r>
              <a:rPr lang="pt-BR" sz="2000" dirty="0"/>
              <a:t>Registro de presença automático (entrada e saída do aluno);</a:t>
            </a:r>
          </a:p>
          <a:p>
            <a:pPr lvl="1"/>
            <a:r>
              <a:rPr lang="pt-BR" sz="2000" dirty="0"/>
              <a:t>Versões no browser, aplicativo para desktop ou app para celulares.</a:t>
            </a:r>
            <a:endParaRPr lang="pt-BR" sz="2800" dirty="0"/>
          </a:p>
          <a:p>
            <a:endParaRPr lang="pt-BR" sz="2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1D1FAC-69C3-4824-8349-5918D5BD2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6463F1-92E5-4BBD-8C10-2E2126A38AAB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14289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4F01E-84EA-4342-A4D4-E12C70A6E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GRUPO NO WHATSAPP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FD1582-4F8F-4F21-A966-1F8A44C61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 wrap="square" anchor="t">
            <a:normAutofit/>
          </a:bodyPr>
          <a:lstStyle/>
          <a:p>
            <a:r>
              <a:rPr lang="en-US" dirty="0" err="1"/>
              <a:t>Turma</a:t>
            </a:r>
            <a:r>
              <a:rPr lang="en-US" dirty="0"/>
              <a:t> NOITE: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>
                <a:hlinkClick r:id="rId2"/>
              </a:rPr>
              <a:t>https://bit.ly/3gkTC3R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D97B6F-4C41-44E2-9983-8BB6B1AEC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86800" y="-151603"/>
            <a:ext cx="4572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  <a:defRPr/>
            </a:pPr>
            <a:fld id="{3D6463F1-92E5-4BBD-8C10-2E2126A38AAB}" type="slidenum">
              <a:rPr lang="pt-BR" altLang="en-US" smtClean="0"/>
              <a:pPr>
                <a:spcAft>
                  <a:spcPts val="600"/>
                </a:spcAft>
                <a:defRPr/>
              </a:pPr>
              <a:t>17</a:t>
            </a:fld>
            <a:endParaRPr lang="pt-BR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3BF3D5-6448-B93D-BE87-0AA2B784D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81" y="1163637"/>
            <a:ext cx="4530725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02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Fim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3501008"/>
            <a:ext cx="7346776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ricardo.freitas@academico.domhelder.edu.br</a:t>
            </a:r>
            <a:r>
              <a:rPr lang="pt-BR" altLang="pt-BR" dirty="0"/>
              <a:t> 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9976</TotalTime>
  <Words>1275</Words>
  <Application>Microsoft Office PowerPoint</Application>
  <PresentationFormat>Apresentação na tela (4:3)</PresentationFormat>
  <Paragraphs>184</Paragraphs>
  <Slides>18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Garamond</vt:lpstr>
      <vt:lpstr>Wingdings</vt:lpstr>
      <vt:lpstr>Borda</vt:lpstr>
      <vt:lpstr>  Trabalho de Conclusão de Curso I – TCC1</vt:lpstr>
      <vt:lpstr>O PROFESSOR</vt:lpstr>
      <vt:lpstr>O TCC</vt:lpstr>
      <vt:lpstr>O TCC</vt:lpstr>
      <vt:lpstr>A DISCIPLINA</vt:lpstr>
      <vt:lpstr>A DISCIPLINA</vt:lpstr>
      <vt:lpstr>A DISCIPLINA (próxima) </vt:lpstr>
      <vt:lpstr>OS PROFESSORES ENVOLVIDOS</vt:lpstr>
      <vt:lpstr>AS REUNIÕES DE ORIENTAÇÃO</vt:lpstr>
      <vt:lpstr>A DISTRIBUIÇÃO DE PONTOS</vt:lpstr>
      <vt:lpstr>PONTOS: DISCIPLINA (50 pts)</vt:lpstr>
      <vt:lpstr>PONTOS: ORIENTADOR (50 pts)</vt:lpstr>
      <vt:lpstr>OS MATERIAIS A SEREM DISPONIBILIZADOS</vt:lpstr>
      <vt:lpstr>O ALUNO</vt:lpstr>
      <vt:lpstr>PLATAFORMAS DE EAD</vt:lpstr>
      <vt:lpstr>PLATAFORMAS DE EAD</vt:lpstr>
      <vt:lpstr>GRUPO NO WHATSAPP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 de Dados I</dc:title>
  <dc:creator>Ricardo Luiz Freitas</dc:creator>
  <cp:lastModifiedBy>Ricardo Luiz Freitas</cp:lastModifiedBy>
  <cp:revision>48</cp:revision>
  <dcterms:created xsi:type="dcterms:W3CDTF">2020-08-07T15:17:51Z</dcterms:created>
  <dcterms:modified xsi:type="dcterms:W3CDTF">2025-02-10T01:13:12Z</dcterms:modified>
</cp:coreProperties>
</file>