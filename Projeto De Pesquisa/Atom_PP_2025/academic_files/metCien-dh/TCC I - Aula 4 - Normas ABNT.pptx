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21"/>
  </p:notesMasterIdLst>
  <p:handoutMasterIdLst>
    <p:handoutMasterId r:id="rId22"/>
  </p:handoutMasterIdLst>
  <p:sldIdLst>
    <p:sldId id="256" r:id="rId2"/>
    <p:sldId id="1152" r:id="rId3"/>
    <p:sldId id="1153" r:id="rId4"/>
    <p:sldId id="1167" r:id="rId5"/>
    <p:sldId id="1179" r:id="rId6"/>
    <p:sldId id="1174" r:id="rId7"/>
    <p:sldId id="1154" r:id="rId8"/>
    <p:sldId id="1168" r:id="rId9"/>
    <p:sldId id="1169" r:id="rId10"/>
    <p:sldId id="1171" r:id="rId11"/>
    <p:sldId id="1172" r:id="rId12"/>
    <p:sldId id="1175" r:id="rId13"/>
    <p:sldId id="1178" r:id="rId14"/>
    <p:sldId id="1176" r:id="rId15"/>
    <p:sldId id="1180" r:id="rId16"/>
    <p:sldId id="1181" r:id="rId17"/>
    <p:sldId id="1182" r:id="rId18"/>
    <p:sldId id="1155" r:id="rId19"/>
    <p:sldId id="1110" r:id="rId20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0000FF"/>
    <a:srgbClr val="CC0000"/>
    <a:srgbClr val="6699FF"/>
    <a:srgbClr val="777777"/>
    <a:srgbClr val="FFFF6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BE27B-374E-4D18-A5D4-8A9972FCCD01}" v="4" dt="2023-09-29T19:12:03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 autoAdjust="0"/>
    <p:restoredTop sz="94709" autoAdjust="0"/>
  </p:normalViewPr>
  <p:slideViewPr>
    <p:cSldViewPr>
      <p:cViewPr varScale="1">
        <p:scale>
          <a:sx n="80" d="100"/>
          <a:sy n="80" d="100"/>
        </p:scale>
        <p:origin x="13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Luiz Freitas" userId="122532effb8c3c75" providerId="LiveId" clId="{5C0BE27B-374E-4D18-A5D4-8A9972FCCD01}"/>
    <pc:docChg chg="undo custSel modSld">
      <pc:chgData name="Ricardo Luiz Freitas" userId="122532effb8c3c75" providerId="LiveId" clId="{5C0BE27B-374E-4D18-A5D4-8A9972FCCD01}" dt="2023-09-29T19:12:12.075" v="204" actId="1038"/>
      <pc:docMkLst>
        <pc:docMk/>
      </pc:docMkLst>
      <pc:sldChg chg="modSp mod">
        <pc:chgData name="Ricardo Luiz Freitas" userId="122532effb8c3c75" providerId="LiveId" clId="{5C0BE27B-374E-4D18-A5D4-8A9972FCCD01}" dt="2023-09-29T19:01:56.703" v="0" actId="313"/>
        <pc:sldMkLst>
          <pc:docMk/>
          <pc:sldMk cId="925932499" sldId="1152"/>
        </pc:sldMkLst>
        <pc:spChg chg="mod">
          <ac:chgData name="Ricardo Luiz Freitas" userId="122532effb8c3c75" providerId="LiveId" clId="{5C0BE27B-374E-4D18-A5D4-8A9972FCCD01}" dt="2023-09-29T19:01:56.703" v="0" actId="313"/>
          <ac:spMkLst>
            <pc:docMk/>
            <pc:sldMk cId="925932499" sldId="1152"/>
            <ac:spMk id="3" creationId="{A3FCE1A7-A8E3-4C8E-B199-842566AB55AC}"/>
          </ac:spMkLst>
        </pc:spChg>
      </pc:sldChg>
      <pc:sldChg chg="modSp mod">
        <pc:chgData name="Ricardo Luiz Freitas" userId="122532effb8c3c75" providerId="LiveId" clId="{5C0BE27B-374E-4D18-A5D4-8A9972FCCD01}" dt="2023-09-29T19:04:56.079" v="21" actId="20577"/>
        <pc:sldMkLst>
          <pc:docMk/>
          <pc:sldMk cId="1756981547" sldId="1169"/>
        </pc:sldMkLst>
        <pc:spChg chg="mod">
          <ac:chgData name="Ricardo Luiz Freitas" userId="122532effb8c3c75" providerId="LiveId" clId="{5C0BE27B-374E-4D18-A5D4-8A9972FCCD01}" dt="2023-09-29T19:04:56.079" v="21" actId="20577"/>
          <ac:spMkLst>
            <pc:docMk/>
            <pc:sldMk cId="1756981547" sldId="1169"/>
            <ac:spMk id="3" creationId="{D352B7A1-5006-4D2E-A4EE-4112C0E7506B}"/>
          </ac:spMkLst>
        </pc:spChg>
      </pc:sldChg>
      <pc:sldChg chg="modSp mod">
        <pc:chgData name="Ricardo Luiz Freitas" userId="122532effb8c3c75" providerId="LiveId" clId="{5C0BE27B-374E-4D18-A5D4-8A9972FCCD01}" dt="2023-09-29T19:04:26.512" v="15" actId="6549"/>
        <pc:sldMkLst>
          <pc:docMk/>
          <pc:sldMk cId="1685912351" sldId="1171"/>
        </pc:sldMkLst>
        <pc:spChg chg="mod">
          <ac:chgData name="Ricardo Luiz Freitas" userId="122532effb8c3c75" providerId="LiveId" clId="{5C0BE27B-374E-4D18-A5D4-8A9972FCCD01}" dt="2023-09-29T19:04:26.512" v="15" actId="6549"/>
          <ac:spMkLst>
            <pc:docMk/>
            <pc:sldMk cId="1685912351" sldId="1171"/>
            <ac:spMk id="3" creationId="{D352B7A1-5006-4D2E-A4EE-4112C0E7506B}"/>
          </ac:spMkLst>
        </pc:spChg>
      </pc:sldChg>
      <pc:sldChg chg="modSp mod">
        <pc:chgData name="Ricardo Luiz Freitas" userId="122532effb8c3c75" providerId="LiveId" clId="{5C0BE27B-374E-4D18-A5D4-8A9972FCCD01}" dt="2023-09-29T19:12:12.075" v="204" actId="1038"/>
        <pc:sldMkLst>
          <pc:docMk/>
          <pc:sldMk cId="832870191" sldId="1172"/>
        </pc:sldMkLst>
        <pc:spChg chg="mod">
          <ac:chgData name="Ricardo Luiz Freitas" userId="122532effb8c3c75" providerId="LiveId" clId="{5C0BE27B-374E-4D18-A5D4-8A9972FCCD01}" dt="2023-09-29T19:05:24.529" v="28"/>
          <ac:spMkLst>
            <pc:docMk/>
            <pc:sldMk cId="832870191" sldId="1172"/>
            <ac:spMk id="3" creationId="{D352B7A1-5006-4D2E-A4EE-4112C0E7506B}"/>
          </ac:spMkLst>
        </pc:spChg>
        <pc:spChg chg="mod">
          <ac:chgData name="Ricardo Luiz Freitas" userId="122532effb8c3c75" providerId="LiveId" clId="{5C0BE27B-374E-4D18-A5D4-8A9972FCCD01}" dt="2023-09-29T19:12:12.075" v="204" actId="1038"/>
          <ac:spMkLst>
            <pc:docMk/>
            <pc:sldMk cId="832870191" sldId="1172"/>
            <ac:spMk id="8" creationId="{61CD69C8-A27A-49F9-9B47-83243646D491}"/>
          </ac:spMkLst>
        </pc:spChg>
        <pc:spChg chg="mod">
          <ac:chgData name="Ricardo Luiz Freitas" userId="122532effb8c3c75" providerId="LiveId" clId="{5C0BE27B-374E-4D18-A5D4-8A9972FCCD01}" dt="2023-09-29T19:05:57.780" v="71" actId="1038"/>
          <ac:spMkLst>
            <pc:docMk/>
            <pc:sldMk cId="832870191" sldId="1172"/>
            <ac:spMk id="9" creationId="{8E6D94D7-D76F-4582-B21F-75C7C87DB8B1}"/>
          </ac:spMkLst>
        </pc:spChg>
      </pc:sldChg>
      <pc:sldChg chg="modSp mod">
        <pc:chgData name="Ricardo Luiz Freitas" userId="122532effb8c3c75" providerId="LiveId" clId="{5C0BE27B-374E-4D18-A5D4-8A9972FCCD01}" dt="2023-09-29T19:06:22.748" v="78" actId="313"/>
        <pc:sldMkLst>
          <pc:docMk/>
          <pc:sldMk cId="2136290701" sldId="1175"/>
        </pc:sldMkLst>
        <pc:spChg chg="mod">
          <ac:chgData name="Ricardo Luiz Freitas" userId="122532effb8c3c75" providerId="LiveId" clId="{5C0BE27B-374E-4D18-A5D4-8A9972FCCD01}" dt="2023-09-29T19:06:22.748" v="78" actId="313"/>
          <ac:spMkLst>
            <pc:docMk/>
            <pc:sldMk cId="2136290701" sldId="1175"/>
            <ac:spMk id="3" creationId="{D352B7A1-5006-4D2E-A4EE-4112C0E7506B}"/>
          </ac:spMkLst>
        </pc:spChg>
      </pc:sldChg>
      <pc:sldChg chg="modSp mod">
        <pc:chgData name="Ricardo Luiz Freitas" userId="122532effb8c3c75" providerId="LiveId" clId="{5C0BE27B-374E-4D18-A5D4-8A9972FCCD01}" dt="2023-09-29T19:10:06.786" v="178" actId="1037"/>
        <pc:sldMkLst>
          <pc:docMk/>
          <pc:sldMk cId="3626947115" sldId="1176"/>
        </pc:sldMkLst>
        <pc:spChg chg="mod">
          <ac:chgData name="Ricardo Luiz Freitas" userId="122532effb8c3c75" providerId="LiveId" clId="{5C0BE27B-374E-4D18-A5D4-8A9972FCCD01}" dt="2023-09-29T19:09:06.220" v="144" actId="2710"/>
          <ac:spMkLst>
            <pc:docMk/>
            <pc:sldMk cId="3626947115" sldId="1176"/>
            <ac:spMk id="3" creationId="{D352B7A1-5006-4D2E-A4EE-4112C0E7506B}"/>
          </ac:spMkLst>
        </pc:spChg>
        <pc:spChg chg="mod">
          <ac:chgData name="Ricardo Luiz Freitas" userId="122532effb8c3c75" providerId="LiveId" clId="{5C0BE27B-374E-4D18-A5D4-8A9972FCCD01}" dt="2023-09-29T19:09:30.876" v="167" actId="1035"/>
          <ac:spMkLst>
            <pc:docMk/>
            <pc:sldMk cId="3626947115" sldId="1176"/>
            <ac:spMk id="9" creationId="{73C05AFD-130D-400C-813A-DECE845139B8}"/>
          </ac:spMkLst>
        </pc:spChg>
        <pc:spChg chg="mod">
          <ac:chgData name="Ricardo Luiz Freitas" userId="122532effb8c3c75" providerId="LiveId" clId="{5C0BE27B-374E-4D18-A5D4-8A9972FCCD01}" dt="2023-09-29T19:10:06.786" v="178" actId="1037"/>
          <ac:spMkLst>
            <pc:docMk/>
            <pc:sldMk cId="3626947115" sldId="1176"/>
            <ac:spMk id="10" creationId="{01B4F291-41F9-43E1-881F-3771E160EB16}"/>
          </ac:spMkLst>
        </pc:spChg>
      </pc:sldChg>
      <pc:sldChg chg="modSp mod">
        <pc:chgData name="Ricardo Luiz Freitas" userId="122532effb8c3c75" providerId="LiveId" clId="{5C0BE27B-374E-4D18-A5D4-8A9972FCCD01}" dt="2023-09-29T19:09:56.261" v="177" actId="1038"/>
        <pc:sldMkLst>
          <pc:docMk/>
          <pc:sldMk cId="2928896367" sldId="1178"/>
        </pc:sldMkLst>
        <pc:spChg chg="mod">
          <ac:chgData name="Ricardo Luiz Freitas" userId="122532effb8c3c75" providerId="LiveId" clId="{5C0BE27B-374E-4D18-A5D4-8A9972FCCD01}" dt="2023-09-29T19:09:14.752" v="145" actId="2710"/>
          <ac:spMkLst>
            <pc:docMk/>
            <pc:sldMk cId="2928896367" sldId="1178"/>
            <ac:spMk id="3" creationId="{D352B7A1-5006-4D2E-A4EE-4112C0E7506B}"/>
          </ac:spMkLst>
        </pc:spChg>
        <pc:spChg chg="mod">
          <ac:chgData name="Ricardo Luiz Freitas" userId="122532effb8c3c75" providerId="LiveId" clId="{5C0BE27B-374E-4D18-A5D4-8A9972FCCD01}" dt="2023-09-29T19:07:00.801" v="119" actId="1035"/>
          <ac:spMkLst>
            <pc:docMk/>
            <pc:sldMk cId="2928896367" sldId="1178"/>
            <ac:spMk id="9" creationId="{73C05AFD-130D-400C-813A-DECE845139B8}"/>
          </ac:spMkLst>
        </pc:spChg>
        <pc:spChg chg="mod">
          <ac:chgData name="Ricardo Luiz Freitas" userId="122532effb8c3c75" providerId="LiveId" clId="{5C0BE27B-374E-4D18-A5D4-8A9972FCCD01}" dt="2023-09-29T19:09:56.261" v="177" actId="1038"/>
          <ac:spMkLst>
            <pc:docMk/>
            <pc:sldMk cId="2928896367" sldId="1178"/>
            <ac:spMk id="10" creationId="{01B4F291-41F9-43E1-881F-3771E160EB16}"/>
          </ac:spMkLst>
        </pc:spChg>
      </pc:sldChg>
      <pc:sldChg chg="modSp mod">
        <pc:chgData name="Ricardo Luiz Freitas" userId="122532effb8c3c75" providerId="LiveId" clId="{5C0BE27B-374E-4D18-A5D4-8A9972FCCD01}" dt="2023-09-29T19:11:31.761" v="196" actId="20577"/>
        <pc:sldMkLst>
          <pc:docMk/>
          <pc:sldMk cId="2707065821" sldId="1182"/>
        </pc:sldMkLst>
        <pc:spChg chg="mod">
          <ac:chgData name="Ricardo Luiz Freitas" userId="122532effb8c3c75" providerId="LiveId" clId="{5C0BE27B-374E-4D18-A5D4-8A9972FCCD01}" dt="2023-09-29T19:11:31.761" v="196" actId="20577"/>
          <ac:spMkLst>
            <pc:docMk/>
            <pc:sldMk cId="2707065821" sldId="1182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77728-021F-4A02-8D34-024195707F4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B780B8-6507-45A6-AB2B-EBCB743DF2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49A82F-4140-4027-B70E-A64232005379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DE62D4-B7C2-4526-B741-F9CD2ECCD214}" type="slidenum">
              <a:rPr lang="pt-BR" altLang="pt-BR" smtClean="0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C902-5876-4402-B338-D5A38207421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507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463F1-92E5-4BBD-8C10-2E2126A38AA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6716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EF058-C0D1-4D78-9F23-1C3D3F5F518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571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0935-5B70-4671-9631-B280DFC506A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0695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3F317-F936-46DB-91F7-58293852F51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1644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7709A-8958-4297-9A64-922EE62B84A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0774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019D9-C3AB-4625-A829-F7496B273D6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0178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2F8D1-3E22-433D-B00E-1E128667CB8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592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2D13E-1D7D-49F7-9E2A-4833BB8FDCD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6145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D607-59FA-49C0-ABD2-D2CB3EBE7CF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9588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8CAC9-FD44-4050-8B42-91BC1BBB6EC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1286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98AD0-D772-4E5E-9266-F8430653A10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62611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0F7FE-A84C-4977-B4CC-69453517E2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7632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DE8B-226D-44AF-BC41-9AAD53AC7C0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5366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-15160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3EB9F45-F53C-46A8-ABD5-4DD514F6C2D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46868E6E-1DCA-3982-8477-9A36CE51DB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6721" y="6361583"/>
            <a:ext cx="6274218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ricardo.freitas@academico.domhelder.edu.br</a:t>
            </a: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92DB8D82-D7D8-DBB0-3680-CC00A369C8E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192587"/>
            <a:ext cx="802432" cy="56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673" r:id="rId1"/>
    <p:sldLayoutId id="2147488660" r:id="rId2"/>
    <p:sldLayoutId id="2147488661" r:id="rId3"/>
    <p:sldLayoutId id="2147488662" r:id="rId4"/>
    <p:sldLayoutId id="2147488663" r:id="rId5"/>
    <p:sldLayoutId id="2147488664" r:id="rId6"/>
    <p:sldLayoutId id="2147488665" r:id="rId7"/>
    <p:sldLayoutId id="2147488666" r:id="rId8"/>
    <p:sldLayoutId id="2147488667" r:id="rId9"/>
    <p:sldLayoutId id="2147488668" r:id="rId10"/>
    <p:sldLayoutId id="2147488669" r:id="rId11"/>
    <p:sldLayoutId id="2147488670" r:id="rId12"/>
    <p:sldLayoutId id="2147488671" r:id="rId13"/>
    <p:sldLayoutId id="214748867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https://fluipress.com.br/wp-content/uploads/2021/04/Pagina-I4.0-1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https://fluipress.com.br/wp-content/uploads/2021/04/Pagina-I4.0-1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ítulo 1"/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7623175" cy="968375"/>
          </a:xfrm>
        </p:spPr>
        <p:txBody>
          <a:bodyPr/>
          <a:lstStyle/>
          <a:p>
            <a:pPr algn="l"/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/>
            </a:r>
            <a:b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pt-BR" dirty="0"/>
              <a:t>Trabalho de Conclusão de Curso I – TCC1</a:t>
            </a:r>
            <a:endParaRPr lang="pt-BR" altLang="pt-BR" sz="18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E8451A-AB2F-12F1-86B4-55AA9EA265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73463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D7DBF4B2-7613-714F-9877-1C6E18E2F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19" y="4552950"/>
            <a:ext cx="2220761" cy="15750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33AF-CEE3-44F8-A8DE-FEAD6556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Aula </a:t>
            </a:r>
            <a:r>
              <a:rPr lang="pt-BR" smtClean="0"/>
              <a:t>4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FCE1A7-A8E3-4C8E-B199-842566AB5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Normas ABNT</a:t>
            </a:r>
          </a:p>
          <a:p>
            <a:pPr lvl="1"/>
            <a:r>
              <a:rPr lang="pt-BR" dirty="0"/>
              <a:t>Referências</a:t>
            </a:r>
          </a:p>
          <a:p>
            <a:pPr lvl="1"/>
            <a:r>
              <a:rPr lang="pt-BR" dirty="0"/>
              <a:t>Citações</a:t>
            </a:r>
          </a:p>
          <a:p>
            <a:pPr lvl="1"/>
            <a:r>
              <a:rPr lang="pt-BR" dirty="0"/>
              <a:t>Fontes (figuras, tabelas, quadros, etc.)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811234-5DF4-4E26-A53A-972167E5E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2593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17437-4E4D-4009-AA48-D9B35313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Normas ABNT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7122C9-EF65-41B2-93A6-52A67FE9C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“No Brasil, os trabalhos acadêmicos, independente de seu nível (monografias, dissertações ou teses), devem seguir os padrões recomendados pela Associação Brasileira de Normas Técnicas - ABNT.” (AMADEI; FERRAZ, </a:t>
            </a:r>
            <a:r>
              <a:rPr lang="pt-BR" dirty="0" smtClean="0"/>
              <a:t>2019, p.34) 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90C1A2-C9F0-4511-A037-656906E98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4856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143DC-2684-474F-AB7F-FD56C9EA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73417-1E7D-4D51-A488-EA734C421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500" dirty="0"/>
              <a:t>Conjunto de elementos que identificam as obras utilizadas e citadas na elaboração do trabalho (no corpo do texto, nas fontes de ilustrações, tabelas ou em notas de rodapé);</a:t>
            </a:r>
          </a:p>
          <a:p>
            <a:r>
              <a:rPr lang="pt-BR" sz="2500" dirty="0"/>
              <a:t>Devem ser apresentadas no padrão ABNT, em uma única ordem alfabética, independentemente do suporte físico, e alinhadas somente à esquerda, em espaço simples, e espaço simples entre elas;</a:t>
            </a:r>
          </a:p>
          <a:p>
            <a:r>
              <a:rPr lang="pt-BR" sz="2500" dirty="0"/>
              <a:t>Podem ser livros, periódicos, artigos, monografias, dissertações, publicações eletrônicas (sites), leis, decretos, materiais audiovisuais, entrevistas, etc. </a:t>
            </a:r>
          </a:p>
          <a:p>
            <a:endParaRPr lang="pt-BR" sz="25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53986C-1B7A-4805-B33D-70A7280A3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3136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0CC5B-527D-4855-A1A3-47568EB1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7B117C-7030-42C1-A15A-640160A74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pPr marL="0" indent="0">
              <a:buNone/>
            </a:pPr>
            <a:r>
              <a:rPr lang="pt-BR" sz="2000" dirty="0"/>
              <a:t>ABNT</a:t>
            </a:r>
            <a:r>
              <a:rPr lang="pt-BR" sz="2000" b="0" i="0" u="none" strike="noStrike" baseline="0" dirty="0"/>
              <a:t> – Associação Brasileira de Normas Técnicas. </a:t>
            </a:r>
            <a:r>
              <a:rPr lang="pt-BR" sz="2000" b="1" i="0" u="none" strike="noStrike" baseline="0" dirty="0"/>
              <a:t>ABNT Catálogo</a:t>
            </a:r>
            <a:r>
              <a:rPr lang="pt-BR" sz="2000" b="0" i="0" u="none" strike="noStrike" baseline="0" dirty="0"/>
              <a:t>: Norma Técnica. Rio de Janeiro: ABNT, 2002. Disponível em: https://www.abntcatalogo.com.br/</a:t>
            </a:r>
            <a:r>
              <a:rPr lang="pt-BR" sz="2000" b="0" i="0" u="none" strike="noStrike" baseline="0" dirty="0" err="1"/>
              <a:t>norma.aspx?Q</a:t>
            </a:r>
            <a:r>
              <a:rPr lang="pt-BR" sz="2000" b="0" i="0" u="none" strike="noStrike" baseline="0" dirty="0"/>
              <a:t>=SmhrdW9ucS9vQzU5ZkxaWnhZenFudy9LWVdZQWNLaUE5RHhLWUdhejRLYz0=. Acesso em: 11 fev. 2022.</a:t>
            </a:r>
          </a:p>
          <a:p>
            <a:pPr marL="0" indent="0" algn="l">
              <a:buNone/>
            </a:pPr>
            <a:endParaRPr lang="pt-BR" sz="2000" b="0" i="0" u="none" strike="noStrike" baseline="0" dirty="0"/>
          </a:p>
          <a:p>
            <a:pPr marL="0" indent="0" algn="l">
              <a:buNone/>
            </a:pPr>
            <a:r>
              <a:rPr lang="pt-BR" sz="2000" b="0" i="0" u="none" strike="noStrike" baseline="0" dirty="0"/>
              <a:t>AMADEI, J. R. P.; FERRAZ, V. C. T. </a:t>
            </a:r>
            <a:r>
              <a:rPr lang="pt-BR" sz="2000" b="1" i="0" u="none" strike="noStrike" baseline="0" dirty="0"/>
              <a:t>Guia para elaboração de citações em documentos</a:t>
            </a:r>
            <a:r>
              <a:rPr lang="pt-BR" sz="2000" b="0" i="0" u="none" strike="noStrike" baseline="0" dirty="0"/>
              <a:t>: ABNT </a:t>
            </a:r>
            <a:r>
              <a:rPr lang="de-DE" sz="2000" b="0" i="0" u="none" strike="noStrike" baseline="0" dirty="0"/>
              <a:t>NBR 10520:2002. Bauru, 2019. 33 p.</a:t>
            </a: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endParaRPr lang="pt-BR" sz="2000" dirty="0"/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r>
              <a:rPr lang="pt-BR" sz="2000" dirty="0"/>
              <a:t>OLIVEIRA, T. L. </a:t>
            </a:r>
            <a:r>
              <a:rPr lang="pt-BR" sz="2000" b="1" dirty="0"/>
              <a:t>Prevalência de desgaste dentário e a correlação com fatores etiológicos em adultos jovens</a:t>
            </a:r>
            <a:r>
              <a:rPr lang="pt-BR" sz="2000" dirty="0"/>
              <a:t>. 2007. 72 f. Trabalho de Conclusão de Curso (Graduação em Odontologia) - Faculdade de Odontologia de Bauru, Universidade de São Paulo, Bauru.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8297DF-A9EA-4BC0-A928-5234FB9B2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C01D401B-F249-4AAC-8375-9F7C80554609}"/>
              </a:ext>
            </a:extLst>
          </p:cNvPr>
          <p:cNvSpPr/>
          <p:nvPr/>
        </p:nvSpPr>
        <p:spPr bwMode="auto">
          <a:xfrm rot="19853586">
            <a:off x="4640064" y="2557045"/>
            <a:ext cx="2093529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Livro impresso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2F793E05-27D0-4FFA-BE31-CE3BC72930AC}"/>
              </a:ext>
            </a:extLst>
          </p:cNvPr>
          <p:cNvSpPr/>
          <p:nvPr/>
        </p:nvSpPr>
        <p:spPr bwMode="auto">
          <a:xfrm rot="19853586">
            <a:off x="5106999" y="607617"/>
            <a:ext cx="2093529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Site de internet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92E018AC-7E7E-46C3-80B5-67660250C6D9}"/>
              </a:ext>
            </a:extLst>
          </p:cNvPr>
          <p:cNvSpPr/>
          <p:nvPr/>
        </p:nvSpPr>
        <p:spPr bwMode="auto">
          <a:xfrm rot="19853586">
            <a:off x="5844230" y="3539267"/>
            <a:ext cx="2962295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Trabalhos acadêmicos</a:t>
            </a:r>
          </a:p>
        </p:txBody>
      </p:sp>
    </p:spTree>
    <p:extLst>
      <p:ext uri="{BB962C8B-B14F-4D97-AF65-F5344CB8AC3E}">
        <p14:creationId xmlns:p14="http://schemas.microsoft.com/office/powerpoint/2010/main" val="338747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0CC5B-527D-4855-A1A3-47568EB1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7B117C-7030-42C1-A15A-640160A74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pPr marL="0" indent="0">
              <a:buNone/>
            </a:pPr>
            <a:r>
              <a:rPr lang="pt-BR" sz="2000" dirty="0"/>
              <a:t>ABRAMCZYK, J. A fragilidade em idosos e a saúde bucal. </a:t>
            </a:r>
            <a:r>
              <a:rPr lang="pt-BR" sz="2000" b="1" dirty="0"/>
              <a:t>Folha de São Paulo</a:t>
            </a:r>
            <a:r>
              <a:rPr lang="pt-BR" sz="2000" dirty="0"/>
              <a:t>, São Paulo, ano 97, n. 32420, 6 jan. 2018. Caderno Ciência + Saúde, p. B7.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ABNT - Associação Brasileira de Normas Técnicas. </a:t>
            </a:r>
            <a:r>
              <a:rPr lang="pt-BR" sz="2000" b="1" dirty="0"/>
              <a:t>ABNT NBR ISO 12836</a:t>
            </a:r>
            <a:r>
              <a:rPr lang="pt-BR" sz="2000" dirty="0"/>
              <a:t>: odontologia: dispositivos para sistemas CAD/CAM para restaurações dentárias indiretas: métodos de ensaio para avaliação de exatidão. Rio de Janeiro: ABNT, 2017. 14 p.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TV USP BAURU. </a:t>
            </a:r>
            <a:r>
              <a:rPr lang="pt-BR" sz="2000" b="1" dirty="0"/>
              <a:t>De bem com a saúde </a:t>
            </a:r>
            <a:r>
              <a:rPr lang="pt-BR" sz="2000" dirty="0"/>
              <a:t>– AVC: qual a importância do rápido atendimento? Bauru: TV USP, 2018. 1 vídeo (1 min). Disponível em: https://www.youtube.com/</a:t>
            </a:r>
            <a:r>
              <a:rPr lang="pt-BR" sz="2000" dirty="0" err="1"/>
              <a:t>watch?v</a:t>
            </a:r>
            <a:r>
              <a:rPr lang="pt-BR" sz="2000" dirty="0"/>
              <a:t>=</a:t>
            </a:r>
            <a:r>
              <a:rPr lang="pt-BR" sz="2000" dirty="0" err="1"/>
              <a:t>gkT-eMYlrKw</a:t>
            </a:r>
            <a:r>
              <a:rPr lang="pt-BR" sz="2000" dirty="0"/>
              <a:t>. Acesso em: 6 jan. 2019.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8297DF-A9EA-4BC0-A928-5234FB9B2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C01D401B-F249-4AAC-8375-9F7C80554609}"/>
              </a:ext>
            </a:extLst>
          </p:cNvPr>
          <p:cNvSpPr/>
          <p:nvPr/>
        </p:nvSpPr>
        <p:spPr bwMode="auto">
          <a:xfrm rot="19853586">
            <a:off x="5546408" y="2015635"/>
            <a:ext cx="2093529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Norma Técni</a:t>
            </a:r>
            <a:r>
              <a:rPr lang="pt-BR" dirty="0">
                <a:latin typeface="Arial" charset="0"/>
              </a:rPr>
              <a:t>ca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2F793E05-27D0-4FFA-BE31-CE3BC72930AC}"/>
              </a:ext>
            </a:extLst>
          </p:cNvPr>
          <p:cNvSpPr/>
          <p:nvPr/>
        </p:nvSpPr>
        <p:spPr bwMode="auto">
          <a:xfrm rot="19853586">
            <a:off x="5461090" y="648180"/>
            <a:ext cx="2264164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Artigo de Jornal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9A3D414E-2574-493B-90AC-3C3C96DC930B}"/>
              </a:ext>
            </a:extLst>
          </p:cNvPr>
          <p:cNvSpPr/>
          <p:nvPr/>
        </p:nvSpPr>
        <p:spPr bwMode="auto">
          <a:xfrm rot="19853586">
            <a:off x="5748115" y="3902932"/>
            <a:ext cx="1312666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Vídeos</a:t>
            </a:r>
          </a:p>
        </p:txBody>
      </p:sp>
    </p:spTree>
    <p:extLst>
      <p:ext uri="{BB962C8B-B14F-4D97-AF65-F5344CB8AC3E}">
        <p14:creationId xmlns:p14="http://schemas.microsoft.com/office/powerpoint/2010/main" val="385221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DE0C4-706D-47A4-B806-AEE9751E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320918-B28D-4D76-9EF9-A37FF129A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600" dirty="0" smtClean="0"/>
              <a:t>Segundo ABNT (2002) citação é quando mencionamos uma informação num trabalho buscada em outra fonte;</a:t>
            </a:r>
          </a:p>
          <a:p>
            <a:r>
              <a:rPr lang="pt-BR" sz="2600" dirty="0" smtClean="0"/>
              <a:t>“A exatidão e precisão na apresentação das citações são essenciais durante a elaboração do texto acadêmico.” (AMADEI; FERRAZ, 2019, p.25); </a:t>
            </a:r>
          </a:p>
          <a:p>
            <a:r>
              <a:rPr lang="pt-BR" sz="2600" dirty="0" smtClean="0"/>
              <a:t>Tipos </a:t>
            </a:r>
            <a:r>
              <a:rPr lang="pt-BR" sz="2600" dirty="0"/>
              <a:t>de citações:</a:t>
            </a:r>
          </a:p>
          <a:p>
            <a:pPr lvl="1"/>
            <a:r>
              <a:rPr lang="pt-BR" sz="2400" b="1" dirty="0"/>
              <a:t>Indireta</a:t>
            </a:r>
            <a:r>
              <a:rPr lang="pt-BR" sz="2400" dirty="0"/>
              <a:t>: texto baseado na obra de terceiros (utilize expressões como: segundo..., de acordo com...);</a:t>
            </a:r>
          </a:p>
          <a:p>
            <a:pPr lvl="1"/>
            <a:r>
              <a:rPr lang="pt-BR" sz="2400" b="1" dirty="0"/>
              <a:t>Direta</a:t>
            </a:r>
            <a:r>
              <a:rPr lang="pt-BR" sz="2400" dirty="0"/>
              <a:t>: transcrição textual da obra de terceiros (entre aspas).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BF851-F98D-4BF2-A149-164B141BB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E9E9595F-6949-4E21-987F-9E7A59737AED}"/>
              </a:ext>
            </a:extLst>
          </p:cNvPr>
          <p:cNvSpPr/>
          <p:nvPr/>
        </p:nvSpPr>
        <p:spPr bwMode="auto">
          <a:xfrm rot="19853586">
            <a:off x="5372909" y="614003"/>
            <a:ext cx="2520280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Citação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INDIRETA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C7BD7A71-7380-4A57-B7E7-8FDE6A1CB999}"/>
              </a:ext>
            </a:extLst>
          </p:cNvPr>
          <p:cNvSpPr/>
          <p:nvPr/>
        </p:nvSpPr>
        <p:spPr bwMode="auto">
          <a:xfrm rot="19853586">
            <a:off x="6237005" y="1838139"/>
            <a:ext cx="2520280" cy="690564"/>
          </a:xfrm>
          <a:prstGeom prst="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Citação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DIRETA</a:t>
            </a:r>
          </a:p>
        </p:txBody>
      </p:sp>
    </p:spTree>
    <p:extLst>
      <p:ext uri="{BB962C8B-B14F-4D97-AF65-F5344CB8AC3E}">
        <p14:creationId xmlns:p14="http://schemas.microsoft.com/office/powerpoint/2010/main" val="239175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DE0C4-706D-47A4-B806-AEE9751E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x </a:t>
            </a:r>
            <a:r>
              <a:rPr lang="pt-BR" b="1" dirty="0"/>
              <a:t>Plágio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320918-B28D-4D76-9EF9-A37FF129A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179388"/>
            <a:r>
              <a:rPr lang="pt-BR" dirty="0"/>
              <a:t>“É importante esclarecer que, ao utilizar uma obra para construir um texto, é crucial que a referência e citação sejam feitas. Caso contrário, se configurará em ato de </a:t>
            </a:r>
            <a:r>
              <a:rPr lang="pt-BR" b="1" dirty="0">
                <a:solidFill>
                  <a:srgbClr val="FF0000"/>
                </a:solidFill>
              </a:rPr>
              <a:t>plágio</a:t>
            </a:r>
            <a:r>
              <a:rPr lang="pt-BR" dirty="0"/>
              <a:t>.” (AMADEI; FERRAZ, </a:t>
            </a:r>
            <a:r>
              <a:rPr lang="pt-BR" dirty="0" smtClean="0"/>
              <a:t>2019, p.</a:t>
            </a:r>
            <a:r>
              <a:rPr lang="pt-BR" dirty="0" smtClean="0"/>
              <a:t>17</a:t>
            </a:r>
            <a:r>
              <a:rPr lang="pt-BR" dirty="0" smtClean="0"/>
              <a:t>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BF851-F98D-4BF2-A149-164B141BB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4012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Indiretas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Citação indireta </a:t>
            </a:r>
            <a:r>
              <a:rPr lang="pt-BR" b="1" dirty="0"/>
              <a:t>dentro da sentença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rgbClr val="FF0000"/>
                </a:solidFill>
              </a:rPr>
              <a:t>Hoare</a:t>
            </a:r>
            <a:r>
              <a:rPr lang="pt-BR" sz="2000" dirty="0">
                <a:solidFill>
                  <a:srgbClr val="FF0000"/>
                </a:solidFill>
              </a:rPr>
              <a:t> et al. (2014)</a:t>
            </a:r>
            <a:r>
              <a:rPr lang="pt-BR" sz="2000" dirty="0"/>
              <a:t> com objetivo de avaliar os efeitos e benefícios dos AASI e GS em pacientes com zumbido e PA coexistente, realizaram uma revisão de literatura de ensaios clínicos controlados, randomizados e não randomizados, em que a intervenção envolveu a amplificação com AASI em comparação a outras intervenções ou ao placebo.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5698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Indiretas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Citação indireta </a:t>
            </a:r>
            <a:r>
              <a:rPr lang="pt-BR" b="1" dirty="0"/>
              <a:t>dentro de parêntesis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r>
              <a:rPr lang="pt-BR" sz="2000" dirty="0"/>
              <a:t>Corroborando com este estudo, autores referem que, embora a heterogeneidade do zumbido seja amplamente reconhecida pelos clínicos, muitos tratamentos comuns de zumbidos baseados em som são aplicados com avaliação limitada das diferenças individuais </a:t>
            </a:r>
            <a:r>
              <a:rPr lang="pt-BR" sz="2000" dirty="0">
                <a:solidFill>
                  <a:srgbClr val="FF0000"/>
                </a:solidFill>
              </a:rPr>
              <a:t>(HOARE et al., 2014)</a:t>
            </a:r>
            <a:r>
              <a:rPr lang="pt-BR" sz="2000" dirty="0"/>
              <a:t>.</a:t>
            </a: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 </a:t>
            </a:r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8591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Diretas</a:t>
            </a:r>
            <a:r>
              <a:rPr lang="pt-BR" dirty="0"/>
              <a:t> (</a:t>
            </a:r>
            <a:r>
              <a:rPr lang="pt-BR" u="sng" dirty="0"/>
              <a:t>até três linhas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88840"/>
          </a:xfrm>
        </p:spPr>
        <p:txBody>
          <a:bodyPr/>
          <a:lstStyle/>
          <a:p>
            <a:r>
              <a:rPr lang="pt-BR" dirty="0"/>
              <a:t>Citação direta </a:t>
            </a:r>
            <a:r>
              <a:rPr lang="pt-BR" b="1" dirty="0"/>
              <a:t>dentro da sentença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r>
              <a:rPr lang="pt-BR" sz="2000" dirty="0"/>
              <a:t>Segundo </a:t>
            </a:r>
            <a:r>
              <a:rPr lang="pt-BR" sz="2000" dirty="0">
                <a:solidFill>
                  <a:srgbClr val="FF0000"/>
                </a:solidFill>
              </a:rPr>
              <a:t>Montenegro e Guerreiro (2010, p.74)</a:t>
            </a:r>
            <a:r>
              <a:rPr lang="pt-BR" sz="2000" dirty="0"/>
              <a:t> “a epilepsia caracteriza-se pela presença de crises epiléticas recorrentes, na ausência de condição </a:t>
            </a:r>
            <a:r>
              <a:rPr lang="pt-BR" sz="2000" dirty="0" err="1"/>
              <a:t>toxicometabólica</a:t>
            </a:r>
            <a:r>
              <a:rPr lang="pt-BR" sz="2000" dirty="0"/>
              <a:t> ou febril.”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CD69C8-A27A-49F9-9B47-83243646D491}"/>
              </a:ext>
            </a:extLst>
          </p:cNvPr>
          <p:cNvSpPr txBox="1"/>
          <p:nvPr/>
        </p:nvSpPr>
        <p:spPr>
          <a:xfrm>
            <a:off x="3563888" y="4892967"/>
            <a:ext cx="4608512" cy="1200329"/>
          </a:xfrm>
          <a:prstGeom prst="rect">
            <a:avLst/>
          </a:prstGeom>
          <a:noFill/>
          <a:ln w="57150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u="sng" dirty="0"/>
              <a:t>IMPORTANTE</a:t>
            </a:r>
            <a:r>
              <a:rPr lang="pt-BR" sz="2400" dirty="0"/>
              <a:t>: </a:t>
            </a:r>
            <a:r>
              <a:rPr kumimoji="0" 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 citação direta </a:t>
            </a:r>
            <a:r>
              <a:rPr kumimoji="0" lang="pt-BR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deve </a:t>
            </a:r>
            <a:r>
              <a:rPr lang="pt-BR" sz="2400" dirty="0">
                <a:latin typeface="Arial" charset="0"/>
              </a:rPr>
              <a:t>SEMPRE </a:t>
            </a:r>
            <a:r>
              <a:rPr kumimoji="0" lang="pt-BR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informar o número da página!</a:t>
            </a:r>
            <a:endParaRPr kumimoji="0" lang="pt-B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8E6D94D7-D76F-4582-B21F-75C7C87DB8B1}"/>
              </a:ext>
            </a:extLst>
          </p:cNvPr>
          <p:cNvSpPr/>
          <p:nvPr/>
        </p:nvSpPr>
        <p:spPr bwMode="auto">
          <a:xfrm rot="2552592">
            <a:off x="5790055" y="2071878"/>
            <a:ext cx="540060" cy="1186717"/>
          </a:xfrm>
          <a:prstGeom prst="downArrow">
            <a:avLst/>
          </a:prstGeom>
          <a:solidFill>
            <a:srgbClr val="0099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87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Diretas</a:t>
            </a:r>
            <a:r>
              <a:rPr lang="pt-BR" dirty="0"/>
              <a:t> (</a:t>
            </a:r>
            <a:r>
              <a:rPr lang="pt-BR" u="sng" dirty="0"/>
              <a:t>até três linhas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Citação direta </a:t>
            </a:r>
            <a:r>
              <a:rPr lang="pt-BR" b="1" dirty="0"/>
              <a:t>dentro do parêntesis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r>
              <a:rPr lang="pt-BR" sz="2000" dirty="0"/>
              <a:t>“A epilepsia caracteriza-se pela presença de crises epiléticas recorrentes, na ausência de condição toxico metabólica ou febril.” </a:t>
            </a:r>
            <a:r>
              <a:rPr lang="pt-BR" sz="2000" dirty="0">
                <a:solidFill>
                  <a:srgbClr val="FF0000"/>
                </a:solidFill>
              </a:rPr>
              <a:t>(MONTENEGRO; GUERREIRO, 2010, p.74)</a:t>
            </a:r>
            <a:r>
              <a:rPr lang="pt-BR" sz="2000" dirty="0"/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3629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Diretas</a:t>
            </a:r>
            <a:r>
              <a:rPr lang="pt-BR" dirty="0"/>
              <a:t> (</a:t>
            </a:r>
            <a:r>
              <a:rPr lang="pt-BR" u="sng" dirty="0"/>
              <a:t>acima de três linhas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Citação direta </a:t>
            </a:r>
            <a:r>
              <a:rPr lang="pt-BR" b="1" dirty="0"/>
              <a:t>dentro da sentença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rgbClr val="FF0000"/>
                </a:solidFill>
              </a:rPr>
              <a:t>Carelli (2010, p.204)</a:t>
            </a:r>
            <a:r>
              <a:rPr lang="pt-BR" sz="2000" dirty="0"/>
              <a:t> relata que</a:t>
            </a:r>
          </a:p>
          <a:p>
            <a:pPr marL="993775" indent="0" algn="just">
              <a:lnSpc>
                <a:spcPts val="1800"/>
              </a:lnSpc>
              <a:buNone/>
            </a:pPr>
            <a:r>
              <a:rPr lang="pt-BR" sz="1600" dirty="0"/>
              <a:t>(...) nos procedimentos de derivação, as complicações mais comuns são as obstruções e infecções, que, necessariamente, implicam em remover o sistema internalizado. Nas obstruções, o segmento obstruído deve ser retirado e, na maioria, está relacionado ao cateter ventricular ou, muito raramente, ao cateter  peritoneal.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  <a:endParaRPr lang="pt-BR" sz="1600" dirty="0"/>
          </a:p>
          <a:p>
            <a:pPr marL="993775" indent="0" algn="just">
              <a:lnSpc>
                <a:spcPts val="1800"/>
              </a:lnSpc>
              <a:buNone/>
            </a:pP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73C05AFD-130D-400C-813A-DECE845139B8}"/>
              </a:ext>
            </a:extLst>
          </p:cNvPr>
          <p:cNvSpPr/>
          <p:nvPr/>
        </p:nvSpPr>
        <p:spPr bwMode="auto">
          <a:xfrm rot="19421119">
            <a:off x="3960155" y="2158382"/>
            <a:ext cx="2951403" cy="2063000"/>
          </a:xfrm>
          <a:prstGeom prst="leftArrow">
            <a:avLst>
              <a:gd name="adj1" fmla="val 50000"/>
              <a:gd name="adj2" fmla="val 5915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Tabulação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</a:t>
            </a:r>
            <a:r>
              <a:rPr kumimoji="0" lang="pt-B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cm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lang="pt-BR" baseline="0" dirty="0">
                <a:latin typeface="Arial" charset="0"/>
              </a:rPr>
              <a:t>Espaçamento</a:t>
            </a:r>
            <a:r>
              <a:rPr lang="pt-BR" dirty="0">
                <a:latin typeface="Arial" charset="0"/>
              </a:rPr>
              <a:t> </a:t>
            </a:r>
            <a:r>
              <a:rPr lang="pt-BR" b="1" dirty="0">
                <a:latin typeface="Arial" charset="0"/>
              </a:rPr>
              <a:t>1.0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Fonte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tamanho </a:t>
            </a:r>
            <a:r>
              <a:rPr kumimoji="0" lang="pt-B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10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01B4F291-41F9-43E1-881F-3771E160EB16}"/>
              </a:ext>
            </a:extLst>
          </p:cNvPr>
          <p:cNvSpPr/>
          <p:nvPr/>
        </p:nvSpPr>
        <p:spPr bwMode="auto">
          <a:xfrm rot="19379624">
            <a:off x="1152969" y="725077"/>
            <a:ext cx="2951403" cy="2063000"/>
          </a:xfrm>
          <a:prstGeom prst="leftArrow">
            <a:avLst>
              <a:gd name="adj1" fmla="val 50000"/>
              <a:gd name="adj2" fmla="val 5915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Tabulação 3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cm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lang="pt-BR" baseline="0" dirty="0">
                <a:latin typeface="Arial" charset="0"/>
              </a:rPr>
              <a:t>Espaçamento</a:t>
            </a:r>
            <a:r>
              <a:rPr lang="pt-BR" dirty="0">
                <a:latin typeface="Arial" charset="0"/>
              </a:rPr>
              <a:t> 1.5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Fonte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tamanho 12</a:t>
            </a:r>
            <a:endParaRPr kumimoji="0" 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89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A01F-7E9C-4121-BCBF-AEE4A9C3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79296" cy="1139825"/>
          </a:xfrm>
        </p:spPr>
        <p:txBody>
          <a:bodyPr/>
          <a:lstStyle/>
          <a:p>
            <a:r>
              <a:rPr lang="pt-BR" dirty="0"/>
              <a:t>Citações </a:t>
            </a:r>
            <a:r>
              <a:rPr lang="pt-BR" b="1" dirty="0"/>
              <a:t>Diretas</a:t>
            </a:r>
            <a:r>
              <a:rPr lang="pt-BR" dirty="0"/>
              <a:t> (</a:t>
            </a:r>
            <a:r>
              <a:rPr lang="pt-BR" u="sng" dirty="0"/>
              <a:t>acima de três linhas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52B7A1-5006-4D2E-A4EE-4112C0E7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Citação direta </a:t>
            </a:r>
            <a:r>
              <a:rPr lang="pt-BR" b="1" dirty="0"/>
              <a:t>dentro do </a:t>
            </a:r>
            <a:r>
              <a:rPr lang="pt-BR" b="1" dirty="0" err="1"/>
              <a:t>parentesis</a:t>
            </a:r>
            <a:r>
              <a:rPr lang="pt-BR" dirty="0"/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 meu texto meu texto meu texto meu texto meu texto meu texto meu texto meu texto meu texto meu texto.</a:t>
            </a:r>
          </a:p>
          <a:p>
            <a:pPr marL="993775" indent="0" algn="just">
              <a:lnSpc>
                <a:spcPts val="1800"/>
              </a:lnSpc>
              <a:buNone/>
            </a:pPr>
            <a:r>
              <a:rPr lang="pt-BR" sz="1600" dirty="0"/>
              <a:t>Nos procedimentos de derivação, as complicações mais comuns são as obstruções e infecções, que, necessariamente, implicam em remover o sistema internalizado. Nas obstruções, o segmento obstruído deve ser retirado e, na maioria, está relacionado ao cateter ventricular ou, muito raramente, ao cateter  peritoneal </a:t>
            </a:r>
            <a:r>
              <a:rPr lang="pt-BR" sz="1600" dirty="0" smtClean="0">
                <a:solidFill>
                  <a:srgbClr val="FF0000"/>
                </a:solidFill>
              </a:rPr>
              <a:t>(CARELI, 2010</a:t>
            </a:r>
            <a:r>
              <a:rPr lang="pt-BR" sz="1600" dirty="0">
                <a:solidFill>
                  <a:srgbClr val="FF0000"/>
                </a:solidFill>
              </a:rPr>
              <a:t>, p.204)</a:t>
            </a:r>
            <a:r>
              <a:rPr lang="pt-BR" sz="1600" dirty="0"/>
              <a:t>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</a:t>
            </a:r>
            <a:r>
              <a:rPr lang="pt-BR" sz="20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meu </a:t>
            </a: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texto meu texto meu texto meu texto meu texto meu texto meu texto meu texto meu texto meu texto meu texto meu texto.</a:t>
            </a:r>
          </a:p>
          <a:p>
            <a:pPr marL="993775" indent="0" algn="just">
              <a:lnSpc>
                <a:spcPts val="1800"/>
              </a:lnSpc>
              <a:buNone/>
            </a:pP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5F0C4-12D3-49BE-985B-2EDED6A83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73C05AFD-130D-400C-813A-DECE845139B8}"/>
              </a:ext>
            </a:extLst>
          </p:cNvPr>
          <p:cNvSpPr/>
          <p:nvPr/>
        </p:nvSpPr>
        <p:spPr bwMode="auto">
          <a:xfrm rot="19421119">
            <a:off x="4032163" y="1870350"/>
            <a:ext cx="2951403" cy="2063000"/>
          </a:xfrm>
          <a:prstGeom prst="leftArrow">
            <a:avLst>
              <a:gd name="adj1" fmla="val 50000"/>
              <a:gd name="adj2" fmla="val 5915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Tabulação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</a:t>
            </a:r>
            <a:r>
              <a:rPr kumimoji="0" lang="pt-B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cm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lang="pt-BR" baseline="0" dirty="0">
                <a:latin typeface="Arial" charset="0"/>
              </a:rPr>
              <a:t>Espaçamento</a:t>
            </a:r>
            <a:r>
              <a:rPr lang="pt-BR" dirty="0">
                <a:latin typeface="Arial" charset="0"/>
              </a:rPr>
              <a:t> </a:t>
            </a:r>
            <a:r>
              <a:rPr lang="pt-BR" b="1" dirty="0">
                <a:latin typeface="Arial" charset="0"/>
              </a:rPr>
              <a:t>1.0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Fonte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tamanho </a:t>
            </a:r>
            <a:r>
              <a:rPr kumimoji="0" lang="pt-B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10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01B4F291-41F9-43E1-881F-3771E160EB16}"/>
              </a:ext>
            </a:extLst>
          </p:cNvPr>
          <p:cNvSpPr/>
          <p:nvPr/>
        </p:nvSpPr>
        <p:spPr bwMode="auto">
          <a:xfrm rot="19379624">
            <a:off x="1151196" y="725077"/>
            <a:ext cx="2951403" cy="2063000"/>
          </a:xfrm>
          <a:prstGeom prst="leftArrow">
            <a:avLst>
              <a:gd name="adj1" fmla="val 50000"/>
              <a:gd name="adj2" fmla="val 5915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Tabulação 3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cm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lang="pt-BR" baseline="0" dirty="0">
                <a:latin typeface="Arial" charset="0"/>
              </a:rPr>
              <a:t>Espaçamento</a:t>
            </a:r>
            <a:r>
              <a:rPr lang="pt-BR" dirty="0">
                <a:latin typeface="Arial" charset="0"/>
              </a:rPr>
              <a:t> 1.5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Fonte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tamanho 12</a:t>
            </a:r>
            <a:endParaRPr kumimoji="0" 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4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(figuras, tabelas, quadros, etc.)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Figura 1: Indústria 4.0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2400" dirty="0"/>
              <a:t>Fonte: www.abntcatalogo.com.br</a:t>
            </a:r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  <p:pic>
        <p:nvPicPr>
          <p:cNvPr id="1025" name="Picture 1" descr="O que é Indústria 4.0? | Fluipress Automação Industrial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16832"/>
            <a:ext cx="246697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Multiplicação 5">
            <a:extLst>
              <a:ext uri="{FF2B5EF4-FFF2-40B4-BE49-F238E27FC236}">
                <a16:creationId xmlns:a16="http://schemas.microsoft.com/office/drawing/2014/main" id="{A1A9C7EC-67AB-41E6-A0E8-424B41DE6F1B}"/>
              </a:ext>
            </a:extLst>
          </p:cNvPr>
          <p:cNvSpPr/>
          <p:nvPr/>
        </p:nvSpPr>
        <p:spPr bwMode="auto">
          <a:xfrm>
            <a:off x="288032" y="3888758"/>
            <a:ext cx="5940152" cy="648072"/>
          </a:xfrm>
          <a:prstGeom prst="mathMultiply">
            <a:avLst>
              <a:gd name="adj1" fmla="val 5116"/>
            </a:avLst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62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(figuras, tabelas, quadros, etc.)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Figura 1: Indústria 4.0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2400" dirty="0"/>
              <a:t>Fonte: ABNT(2002).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1600" dirty="0"/>
              <a:t>ABNT – Associação Brasileira de Normas Técnicas. </a:t>
            </a:r>
            <a:r>
              <a:rPr lang="pt-BR" sz="1600" b="1" dirty="0"/>
              <a:t>ABNT Catálogo</a:t>
            </a:r>
            <a:r>
              <a:rPr lang="pt-BR" sz="1600" dirty="0"/>
              <a:t>: Norma Técnica. Rio de Janeiro: ABNT, 2002. Disponível em: https://www.abntcatalogo.com.br/norma.aspx?Q=SmhrdW9ucS9vQzU5ZkxaWnhZenFudy9LWVdZQWNLaUE5RHhLWUdhejRLYz0=. Acesso em: 11 fev. 2022.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pic>
        <p:nvPicPr>
          <p:cNvPr id="1025" name="Picture 1" descr="O que é Indústria 4.0? | Fluipress Automação Industrial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09564"/>
            <a:ext cx="246697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332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 Repetidas </a:t>
            </a:r>
            <a:r>
              <a:rPr lang="pt-BR" sz="3200" dirty="0"/>
              <a:t>(mesmo autor e ano)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Segundo </a:t>
            </a:r>
            <a:r>
              <a:rPr lang="pt-BR" sz="2000" dirty="0" err="1"/>
              <a:t>Mayo</a:t>
            </a:r>
            <a:r>
              <a:rPr lang="pt-BR" sz="2000" dirty="0"/>
              <a:t> Clinic (2022a) </a:t>
            </a: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 meu texto meu texto...</a:t>
            </a:r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2000" dirty="0"/>
              <a:t>Já </a:t>
            </a:r>
            <a:r>
              <a:rPr lang="pt-BR" sz="2000" dirty="0" err="1"/>
              <a:t>Mayo</a:t>
            </a:r>
            <a:r>
              <a:rPr lang="pt-BR" sz="2000" dirty="0"/>
              <a:t> Clinic (2022b) </a:t>
            </a:r>
            <a:r>
              <a:rPr lang="pt-BR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meu texto meu texto meu texto.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MAYO CLINIC</a:t>
            </a:r>
            <a:r>
              <a:rPr lang="pt-BR" sz="2000" dirty="0"/>
              <a:t>. </a:t>
            </a:r>
            <a:r>
              <a:rPr lang="pt-BR" sz="2000" dirty="0" err="1"/>
              <a:t>Depression</a:t>
            </a:r>
            <a:r>
              <a:rPr lang="pt-BR" sz="2000" dirty="0"/>
              <a:t>. [</a:t>
            </a:r>
            <a:r>
              <a:rPr lang="pt-BR" sz="2000" dirty="0" err="1"/>
              <a:t>s.l</a:t>
            </a:r>
            <a:r>
              <a:rPr lang="pt-BR" sz="2000" dirty="0"/>
              <a:t>.], </a:t>
            </a:r>
            <a:r>
              <a:rPr lang="pt-BR" sz="2000" b="1" dirty="0"/>
              <a:t>2022</a:t>
            </a:r>
            <a:r>
              <a:rPr lang="pt-BR" sz="2000" dirty="0"/>
              <a:t>. Disponível </a:t>
            </a:r>
            <a:r>
              <a:rPr lang="pt-BR" sz="2000" dirty="0" err="1"/>
              <a:t>em:https</a:t>
            </a:r>
            <a:r>
              <a:rPr lang="pt-BR" sz="2000" dirty="0"/>
              <a:t>://www.mayoclinic.org/</a:t>
            </a:r>
            <a:r>
              <a:rPr lang="pt-BR" sz="2000" dirty="0" err="1"/>
              <a:t>diseases-conditions</a:t>
            </a:r>
            <a:r>
              <a:rPr lang="pt-BR" sz="2000" dirty="0"/>
              <a:t>/</a:t>
            </a:r>
            <a:r>
              <a:rPr lang="pt-BR" sz="2000" dirty="0" err="1"/>
              <a:t>depression</a:t>
            </a:r>
            <a:r>
              <a:rPr lang="pt-BR" sz="2000" dirty="0"/>
              <a:t>/</a:t>
            </a:r>
            <a:r>
              <a:rPr lang="pt-BR" sz="2000" dirty="0" err="1"/>
              <a:t>diagnosis-treatment</a:t>
            </a:r>
            <a:r>
              <a:rPr lang="pt-BR" sz="2000" dirty="0"/>
              <a:t>/drc20356013. Acesso em: 22 mar. 2023.</a:t>
            </a:r>
          </a:p>
          <a:p>
            <a:pPr marL="0" indent="0">
              <a:buNone/>
            </a:pPr>
            <a:endParaRPr lang="pt-BR" sz="1050" dirty="0"/>
          </a:p>
          <a:p>
            <a:pPr marL="0" indent="0">
              <a:buNone/>
            </a:pPr>
            <a:r>
              <a:rPr lang="pt-BR" sz="2000" b="1" dirty="0"/>
              <a:t>MAYO CLINIC</a:t>
            </a:r>
            <a:r>
              <a:rPr lang="pt-BR" sz="2000" dirty="0"/>
              <a:t>. </a:t>
            </a:r>
            <a:r>
              <a:rPr lang="pt-BR" sz="2000" dirty="0" err="1"/>
              <a:t>Antidepressants</a:t>
            </a:r>
            <a:r>
              <a:rPr lang="pt-BR" sz="2000" dirty="0"/>
              <a:t>. In: </a:t>
            </a:r>
            <a:r>
              <a:rPr lang="pt-BR" sz="2000" dirty="0" err="1"/>
              <a:t>Mayo</a:t>
            </a:r>
            <a:r>
              <a:rPr lang="pt-BR" sz="2000" dirty="0"/>
              <a:t> </a:t>
            </a:r>
            <a:r>
              <a:rPr lang="pt-BR" sz="2000" dirty="0" err="1"/>
              <a:t>Clinic</a:t>
            </a:r>
            <a:r>
              <a:rPr lang="pt-BR" sz="2000" dirty="0"/>
              <a:t>. Rochester, MN: </a:t>
            </a:r>
            <a:r>
              <a:rPr lang="pt-BR" sz="2000" dirty="0" err="1"/>
              <a:t>Mayo</a:t>
            </a:r>
            <a:r>
              <a:rPr lang="pt-BR" sz="2000" dirty="0"/>
              <a:t> </a:t>
            </a:r>
            <a:r>
              <a:rPr lang="pt-BR" sz="2000" dirty="0" err="1"/>
              <a:t>Foundationfor</a:t>
            </a:r>
            <a:r>
              <a:rPr lang="pt-BR" sz="2000" dirty="0"/>
              <a:t> Medical </a:t>
            </a:r>
            <a:r>
              <a:rPr lang="pt-BR" sz="2000" dirty="0" err="1"/>
              <a:t>Education</a:t>
            </a:r>
            <a:r>
              <a:rPr lang="pt-BR" sz="2000" dirty="0"/>
              <a:t> </a:t>
            </a:r>
            <a:r>
              <a:rPr lang="pt-BR" sz="2000" dirty="0" err="1"/>
              <a:t>and</a:t>
            </a:r>
            <a:r>
              <a:rPr lang="pt-BR" sz="2000" dirty="0"/>
              <a:t> </a:t>
            </a:r>
            <a:r>
              <a:rPr lang="pt-BR" sz="2000" dirty="0" err="1"/>
              <a:t>Research</a:t>
            </a:r>
            <a:r>
              <a:rPr lang="pt-BR" sz="2000" dirty="0"/>
              <a:t>, </a:t>
            </a:r>
            <a:r>
              <a:rPr lang="pt-BR" sz="2000" b="1" dirty="0"/>
              <a:t>2022</a:t>
            </a:r>
            <a:r>
              <a:rPr lang="pt-BR" sz="2000" dirty="0"/>
              <a:t>. Disponível </a:t>
            </a:r>
            <a:r>
              <a:rPr lang="pt-BR" sz="2000" dirty="0" err="1"/>
              <a:t>em:https</a:t>
            </a:r>
            <a:r>
              <a:rPr lang="pt-BR" sz="2000" dirty="0"/>
              <a:t>://www.mayoclinic.org/</a:t>
            </a:r>
            <a:r>
              <a:rPr lang="pt-BR" sz="2000" dirty="0" err="1"/>
              <a:t>diseases-conditions</a:t>
            </a:r>
            <a:r>
              <a:rPr lang="pt-BR" sz="2000" dirty="0"/>
              <a:t>/</a:t>
            </a:r>
            <a:r>
              <a:rPr lang="pt-BR" sz="2000" dirty="0" err="1"/>
              <a:t>depression</a:t>
            </a:r>
            <a:r>
              <a:rPr lang="pt-BR" sz="2000" dirty="0"/>
              <a:t>/</a:t>
            </a:r>
            <a:r>
              <a:rPr lang="pt-BR" sz="2000" dirty="0" err="1"/>
              <a:t>indepth</a:t>
            </a:r>
            <a:r>
              <a:rPr lang="pt-BR" sz="2000" dirty="0"/>
              <a:t>/</a:t>
            </a:r>
            <a:r>
              <a:rPr lang="pt-BR" sz="2000" dirty="0" err="1"/>
              <a:t>antidepressants</a:t>
            </a:r>
            <a:r>
              <a:rPr lang="pt-BR" sz="2000" dirty="0"/>
              <a:t>/ART-20046273?p=1. Acesso em: 23 mar. 2023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sp>
        <p:nvSpPr>
          <p:cNvPr id="6" name="Seta: para a Esquerda 9">
            <a:extLst>
              <a:ext uri="{FF2B5EF4-FFF2-40B4-BE49-F238E27FC236}">
                <a16:creationId xmlns:a16="http://schemas.microsoft.com/office/drawing/2014/main" id="{01B4F291-41F9-43E1-881F-3771E160EB16}"/>
              </a:ext>
            </a:extLst>
          </p:cNvPr>
          <p:cNvSpPr/>
          <p:nvPr/>
        </p:nvSpPr>
        <p:spPr bwMode="auto">
          <a:xfrm>
            <a:off x="4283968" y="917450"/>
            <a:ext cx="4680520" cy="1935486"/>
          </a:xfrm>
          <a:prstGeom prst="leftArrow">
            <a:avLst>
              <a:gd name="adj1" fmla="val 50000"/>
              <a:gd name="adj2" fmla="val 35532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tabLst/>
            </a:pPr>
            <a:r>
              <a:rPr kumimoji="0" 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 letra “a” depois do ano indica que se refere</a:t>
            </a:r>
            <a:r>
              <a:rPr kumimoji="0" lang="pt-BR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a primeira referência, e “b” se refere a segunda.</a:t>
            </a:r>
            <a:endParaRPr kumimoji="0" 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06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0CC5B-527D-4855-A1A3-47568EB1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7B117C-7030-42C1-A15A-640160A74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HOARE, D. J. </a:t>
            </a:r>
            <a:r>
              <a:rPr lang="pt-BR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et al.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therapy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tinnitus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management: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practicable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 Am </a:t>
            </a:r>
            <a:r>
              <a:rPr lang="pt-BR" sz="2000" b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Acad</a:t>
            </a:r>
            <a:r>
              <a:rPr lang="pt-BR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Audiol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Burlington, v. 25, n. 1, p. 62-75, Jan. 2014. DOI 10.3766/jaaa.25.1.5. Disponível em: https://doi.org/10.3766/jaaa.25.1.5. Acesso em: 11 jan. 2019.</a:t>
            </a: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endParaRPr lang="pt-BR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pt-BR" sz="2000" b="0" i="0" u="none" strike="noStrike" baseline="0" dirty="0">
                <a:latin typeface="ArialMT"/>
              </a:rPr>
              <a:t>MONTENEGRO, M. A.; GUERREIRO, M. M. Epilepsia. </a:t>
            </a:r>
            <a:r>
              <a:rPr lang="pt-BR" sz="2000" b="0" i="1" u="none" strike="noStrike" baseline="0" dirty="0">
                <a:latin typeface="Arial-ItalicMT"/>
              </a:rPr>
              <a:t>In</a:t>
            </a:r>
            <a:r>
              <a:rPr lang="pt-BR" sz="2000" b="0" i="0" u="none" strike="noStrike" baseline="0" dirty="0">
                <a:latin typeface="ArialMT"/>
              </a:rPr>
              <a:t>: MOURA-RIBEIRO, M. V. L.; FERREIRA, L. S. </a:t>
            </a:r>
            <a:r>
              <a:rPr lang="pt-BR" sz="2000" b="1" i="0" u="none" strike="noStrike" baseline="0" dirty="0">
                <a:latin typeface="Arial-BoldMT"/>
              </a:rPr>
              <a:t>Condutas em neurologia infantil</a:t>
            </a:r>
            <a:r>
              <a:rPr lang="pt-BR" sz="2000" b="0" i="0" u="none" strike="noStrike" baseline="0" dirty="0">
                <a:latin typeface="ArialMT"/>
              </a:rPr>
              <a:t>. 2. ed. Rio de Janeiro: </a:t>
            </a:r>
            <a:r>
              <a:rPr lang="pt-BR" sz="2000" b="0" i="0" u="none" strike="noStrike" baseline="0" dirty="0" err="1">
                <a:latin typeface="ArialMT"/>
              </a:rPr>
              <a:t>Revinter</a:t>
            </a:r>
            <a:r>
              <a:rPr lang="pt-BR" sz="2000" b="0" i="0" u="none" strike="noStrike" baseline="0" dirty="0">
                <a:latin typeface="ArialMT"/>
              </a:rPr>
              <a:t>, 2010. cap. 2, p. 73-112.</a:t>
            </a:r>
          </a:p>
          <a:p>
            <a:pPr marL="0" indent="0" algn="l">
              <a:buNone/>
            </a:pPr>
            <a:endParaRPr lang="pt-BR" sz="2000" dirty="0">
              <a:effectLst/>
              <a:latin typeface="Arial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CARELLI, E. F. Hidrocefalia. In: MOURA-RIBEIRO, M. V. L.; FERREIRA, L. S. </a:t>
            </a:r>
            <a:r>
              <a:rPr lang="pt-BR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Condutas em neurologia infantil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2. ed. Rio de Janeiro: </a:t>
            </a:r>
            <a:r>
              <a:rPr lang="pt-BR" sz="20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Revinter</a:t>
            </a:r>
            <a:r>
              <a:rPr lang="pt-BR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2010. cap. 5, p. 200-206.</a:t>
            </a: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endParaRPr lang="pt-BR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tabLst>
                <a:tab pos="269875" algn="l"/>
                <a:tab pos="630555" algn="l"/>
                <a:tab pos="1530350" algn="l"/>
              </a:tabLst>
            </a:pPr>
            <a:endParaRPr lang="pt-BR" sz="2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8297DF-A9EA-4BC0-A928-5234FB9B2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CADF1EEE-0C75-4A45-B35C-ED384312E0B4}"/>
              </a:ext>
            </a:extLst>
          </p:cNvPr>
          <p:cNvSpPr/>
          <p:nvPr/>
        </p:nvSpPr>
        <p:spPr bwMode="auto">
          <a:xfrm rot="1166640">
            <a:off x="2359816" y="1548085"/>
            <a:ext cx="3762171" cy="2063000"/>
          </a:xfrm>
          <a:prstGeom prst="leftArrow">
            <a:avLst>
              <a:gd name="adj1" fmla="val 50000"/>
              <a:gd name="adj2" fmla="val 5915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dirty="0"/>
              <a:t>“</a:t>
            </a:r>
            <a:r>
              <a:rPr lang="pt-BR" b="1" dirty="0"/>
              <a:t>et al</a:t>
            </a:r>
            <a:r>
              <a:rPr lang="pt-BR" dirty="0"/>
              <a:t>.” é a abreviatura da expressão latina "</a:t>
            </a:r>
            <a:r>
              <a:rPr lang="pt-BR" b="1" dirty="0"/>
              <a:t>et</a:t>
            </a:r>
            <a:r>
              <a:rPr lang="pt-BR" dirty="0"/>
              <a:t> alii", que </a:t>
            </a:r>
            <a:r>
              <a:rPr lang="pt-BR" b="1" dirty="0"/>
              <a:t>significa</a:t>
            </a:r>
            <a:r>
              <a:rPr lang="pt-BR" dirty="0"/>
              <a:t> "e outros")</a:t>
            </a:r>
            <a:endParaRPr kumimoji="0" 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72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585B967-1F4A-15E7-A226-BEC904ED75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01008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</TotalTime>
  <Words>1734</Words>
  <Application>Microsoft Office PowerPoint</Application>
  <PresentationFormat>Apresentação na tela (4:3)</PresentationFormat>
  <Paragraphs>141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Arial-BoldMT</vt:lpstr>
      <vt:lpstr>Arial-ItalicMT</vt:lpstr>
      <vt:lpstr>ArialMT</vt:lpstr>
      <vt:lpstr>Garamond</vt:lpstr>
      <vt:lpstr>Times New Roman</vt:lpstr>
      <vt:lpstr>Wingdings</vt:lpstr>
      <vt:lpstr>Borda</vt:lpstr>
      <vt:lpstr>  Trabalho de Conclusão de Curso I – TCC1</vt:lpstr>
      <vt:lpstr>Aula 4</vt:lpstr>
      <vt:lpstr>Normas ABNT</vt:lpstr>
      <vt:lpstr>Referências</vt:lpstr>
      <vt:lpstr>Referências - Exemplos</vt:lpstr>
      <vt:lpstr>Referências - Exemplos</vt:lpstr>
      <vt:lpstr>Citações</vt:lpstr>
      <vt:lpstr>Citações x Plágio</vt:lpstr>
      <vt:lpstr>Citações Indiretas</vt:lpstr>
      <vt:lpstr>Citações Indiretas</vt:lpstr>
      <vt:lpstr>Citações Diretas (até três linhas)</vt:lpstr>
      <vt:lpstr>Citações Diretas (até três linhas)</vt:lpstr>
      <vt:lpstr>Citações Diretas (acima de três linhas)</vt:lpstr>
      <vt:lpstr>Citações Diretas (acima de três linhas)</vt:lpstr>
      <vt:lpstr>Fontes (figuras, tabelas, quadros, etc.)</vt:lpstr>
      <vt:lpstr>Fontes (figuras, tabelas, quadros, etc.)</vt:lpstr>
      <vt:lpstr>Referência Repetidas (mesmo autor e ano)</vt:lpstr>
      <vt:lpstr>Referências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 de Dados I</dc:title>
  <dc:creator>Ricardo Luiz Freitas</dc:creator>
  <cp:lastModifiedBy>Ricardo Luiz de Freitas</cp:lastModifiedBy>
  <cp:revision>55</cp:revision>
  <dcterms:created xsi:type="dcterms:W3CDTF">2020-08-07T15:17:51Z</dcterms:created>
  <dcterms:modified xsi:type="dcterms:W3CDTF">2024-10-02T21:13:28Z</dcterms:modified>
</cp:coreProperties>
</file>